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17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7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7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11580284"/>
            <a:ext cx="2971800" cy="6117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11580284"/>
            <a:ext cx="2971800" cy="6117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2" Type="http://schemas.openxmlformats.org/officeDocument/2006/relationships/hyperlink" Target="https://www.linkedin.com/in/samaythakur/" TargetMode="External"/><Relationship Id="rId1" Type="http://schemas.openxmlformats.org/officeDocument/2006/relationships/hyperlink" Target="https://github.com/samaythakur/SmartQC-On-Device-Visual-Quality-Inspection" TargetMode="Externa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5" Type="http://schemas.openxmlformats.org/officeDocument/2006/relationships/notesSlide" Target="../notesSlides/notesSlide10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8.png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tags" Target="../tags/tag2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41.xml"/><Relationship Id="rId8" Type="http://schemas.openxmlformats.org/officeDocument/2006/relationships/tags" Target="../tags/tag40.xml"/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2" Type="http://schemas.openxmlformats.org/officeDocument/2006/relationships/notesSlide" Target="../notesSlides/notesSlide11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9.png"/><Relationship Id="rId1" Type="http://schemas.openxmlformats.org/officeDocument/2006/relationships/tags" Target="../tags/tag33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50.xml"/><Relationship Id="rId8" Type="http://schemas.openxmlformats.org/officeDocument/2006/relationships/tags" Target="../tags/tag49.xml"/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7" Type="http://schemas.openxmlformats.org/officeDocument/2006/relationships/notesSlide" Target="../notesSlides/notesSlide12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56.xml"/><Relationship Id="rId14" Type="http://schemas.openxmlformats.org/officeDocument/2006/relationships/tags" Target="../tags/tag55.xml"/><Relationship Id="rId13" Type="http://schemas.openxmlformats.org/officeDocument/2006/relationships/tags" Target="../tags/tag54.xml"/><Relationship Id="rId12" Type="http://schemas.openxmlformats.org/officeDocument/2006/relationships/tags" Target="../tags/tag53.xml"/><Relationship Id="rId11" Type="http://schemas.openxmlformats.org/officeDocument/2006/relationships/tags" Target="../tags/tag52.xml"/><Relationship Id="rId10" Type="http://schemas.openxmlformats.org/officeDocument/2006/relationships/tags" Target="../tags/tag51.xml"/><Relationship Id="rId1" Type="http://schemas.openxmlformats.org/officeDocument/2006/relationships/tags" Target="../tags/tag42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.png"/><Relationship Id="rId3" Type="http://schemas.openxmlformats.org/officeDocument/2006/relationships/hyperlink" Target="https://www.linkedin.com/in/samaythakur/" TargetMode="External"/><Relationship Id="rId2" Type="http://schemas.openxmlformats.org/officeDocument/2006/relationships/hyperlink" Target="https://github.com/samaythakur/SmartQC-On-Device-Visual-Quality-Inspection" TargetMode="External"/><Relationship Id="rId1" Type="http://schemas.openxmlformats.org/officeDocument/2006/relationships/hyperlink" Target="https://drive.google.com/file/d/1dWRGNXoAcBiiSLqUo_kNhkiFBUz1Oyck/view?usp=drive_lin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2"/>
          <p:cNvSpPr txBox="1"/>
          <p:nvPr/>
        </p:nvSpPr>
        <p:spPr>
          <a:xfrm>
            <a:off x="1388110" y="902970"/>
            <a:ext cx="10253980" cy="837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en-GB" sz="2000" b="1" kern="0" spc="200" dirty="0">
                <a:solidFill>
                  <a:schemeClr val="bg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QUALCOMM | SNAPDRAGON</a:t>
            </a:r>
            <a:r>
              <a:rPr lang="en-US" altLang="en-US" sz="2000" b="1" kern="0" spc="200" dirty="0">
                <a:solidFill>
                  <a:schemeClr val="bg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®</a:t>
            </a:r>
            <a:r>
              <a:rPr lang="en-US" altLang="en-GB" sz="2000" b="1" kern="0" spc="200" dirty="0">
                <a:solidFill>
                  <a:schemeClr val="bg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 AI LAB BUILD &amp; PRESENT CHALLENGE</a:t>
            </a:r>
            <a:endParaRPr lang="en-US" altLang="en-GB" sz="2000" b="1" kern="0" spc="200" dirty="0">
              <a:solidFill>
                <a:schemeClr val="bg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0" name="Text 3"/>
          <p:cNvSpPr txBox="1"/>
          <p:nvPr/>
        </p:nvSpPr>
        <p:spPr>
          <a:xfrm>
            <a:off x="558165" y="2148840"/>
            <a:ext cx="10031095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SmartQC</a:t>
            </a:r>
            <a:r>
              <a:rPr lang="en-IN" altLang="en-US" sz="3200" b="1" dirty="0">
                <a:solidFill>
                  <a:srgbClr val="FFFFFF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: </a:t>
            </a:r>
            <a:r>
              <a:rPr lang="en-US" altLang="en-GB" sz="3200" b="1" dirty="0">
                <a:solidFill>
                  <a:srgbClr val="FFFFFF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On-Device Visual Quality Inspection</a:t>
            </a:r>
            <a:endParaRPr lang="en-US" altLang="en-GB" sz="3200" b="1" dirty="0">
              <a:solidFill>
                <a:srgbClr val="FFFFFF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11" name="Text 4"/>
          <p:cNvSpPr txBox="1"/>
          <p:nvPr/>
        </p:nvSpPr>
        <p:spPr>
          <a:xfrm>
            <a:off x="548640" y="3108960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altLang="en-US" sz="2400" dirty="0">
                <a:solidFill>
                  <a:srgbClr val="CADCF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O</a:t>
            </a:r>
            <a:r>
              <a:rPr lang="en-US" sz="2400" dirty="0">
                <a:solidFill>
                  <a:srgbClr val="CADCF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ptimized for Snapdragon</a:t>
            </a:r>
            <a:endParaRPr lang="en-US" sz="2400" dirty="0">
              <a:solidFill>
                <a:srgbClr val="CADCFC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2" name="Text 6"/>
          <p:cNvSpPr txBox="1"/>
          <p:nvPr/>
        </p:nvSpPr>
        <p:spPr>
          <a:xfrm>
            <a:off x="548640" y="4297680"/>
            <a:ext cx="10574655" cy="1827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Samay Thakur
</a:t>
            </a:r>
            <a:r>
              <a:rPr lang="en-US" sz="2000" dirty="0">
                <a:solidFill>
                  <a:srgbClr val="AFC4D6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Electronics &amp; Instrumentation Engineering</a:t>
            </a:r>
            <a:r>
              <a:rPr lang="en-IN" altLang="en-US" sz="2000" dirty="0">
                <a:solidFill>
                  <a:srgbClr val="AFC4D6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 |</a:t>
            </a:r>
            <a:r>
              <a:rPr lang="en-US" sz="2000" dirty="0">
                <a:solidFill>
                  <a:srgbClr val="AFC4D6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 M.S. Ramaiah Institute of Technology, Bengaluru</a:t>
            </a:r>
            <a:r>
              <a:rPr lang="en-IN" altLang="en-US" sz="2000" dirty="0">
                <a:solidFill>
                  <a:srgbClr val="AFC4D6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, India</a:t>
            </a:r>
            <a:r>
              <a:rPr lang="en-US" sz="2000" dirty="0">
                <a:solidFill>
                  <a:srgbClr val="AFC4D6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
</a:t>
            </a:r>
            <a:r>
              <a:rPr lang="en-IN" altLang="en-US" sz="2000" dirty="0">
                <a:solidFill>
                  <a:srgbClr val="AFC4D6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hlinkClick r:id="rId1" action="ppaction://hlinkfile"/>
              </a:rPr>
              <a:t>GitHub</a:t>
            </a:r>
            <a:r>
              <a:rPr lang="en-US" sz="2000" dirty="0">
                <a:solidFill>
                  <a:srgbClr val="AFC4D6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hlinkClick r:id="rId1" action="ppaction://hlinkfile"/>
              </a:rPr>
              <a:t> </a:t>
            </a:r>
            <a:r>
              <a:rPr lang="en-US" sz="2000" dirty="0">
                <a:solidFill>
                  <a:srgbClr val="AFC4D6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 |  </a:t>
            </a:r>
            <a:r>
              <a:rPr lang="en-IN" altLang="en-US" sz="2000" dirty="0">
                <a:solidFill>
                  <a:srgbClr val="AFC4D6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hlinkClick r:id="rId2" action="ppaction://hlinkfile"/>
              </a:rPr>
              <a:t>LinkedIn</a:t>
            </a:r>
            <a:endParaRPr lang="en-IN" altLang="en-US" sz="2000" dirty="0">
              <a:solidFill>
                <a:srgbClr val="AFC4D6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pic>
        <p:nvPicPr>
          <p:cNvPr id="3" name="Picture 2" descr="uploadedManual-6a9e5fdf993af_fireball_logo-Photoroo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295" y="696595"/>
            <a:ext cx="1249680" cy="1249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THE PROBLEM</a:t>
            </a:r>
            <a:endParaRPr lang="en-US" sz="1300" b="1" kern="0" spc="200" dirty="0">
              <a:solidFill>
                <a:schemeClr val="tx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9" name="Text 1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A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Quality inspection is slow, inconsistent, or expensive</a:t>
            </a:r>
            <a:endParaRPr lang="en-US" sz="3200" b="1" dirty="0">
              <a:solidFill>
                <a:srgbClr val="1B1F2A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20" name="Shape 2"/>
          <p:cNvSpPr/>
          <p:nvPr>
            <p:custDataLst>
              <p:tags r:id="rId1"/>
            </p:custDataLst>
          </p:nvPr>
        </p:nvSpPr>
        <p:spPr>
          <a:xfrm>
            <a:off x="548640" y="201168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65A82"/>
          </a:solidFill>
        </p:spPr>
      </p:sp>
      <p:sp>
        <p:nvSpPr>
          <p:cNvPr id="21" name="Text 3"/>
          <p:cNvSpPr txBox="1"/>
          <p:nvPr>
            <p:custDataLst>
              <p:tags r:id="rId2"/>
            </p:custDataLst>
          </p:nvPr>
        </p:nvSpPr>
        <p:spPr>
          <a:xfrm>
            <a:off x="548640" y="20116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1</a:t>
            </a:r>
            <a:endParaRPr lang="en-US" sz="1800" b="1" dirty="0">
              <a:solidFill>
                <a:srgbClr val="FFFFFF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2" name="Text 4"/>
          <p:cNvSpPr txBox="1"/>
          <p:nvPr>
            <p:custDataLst>
              <p:tags r:id="rId3"/>
            </p:custDataLst>
          </p:nvPr>
        </p:nvSpPr>
        <p:spPr>
          <a:xfrm>
            <a:off x="1325880" y="19659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Manual inspection</a:t>
            </a:r>
            <a:endParaRPr lang="en-US" sz="1600" b="1" dirty="0">
              <a:solidFill>
                <a:srgbClr val="1B1F2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3" name="Text 5"/>
          <p:cNvSpPr txBox="1"/>
          <p:nvPr>
            <p:custDataLst>
              <p:tags r:id="rId4"/>
            </p:custDataLst>
          </p:nvPr>
        </p:nvSpPr>
        <p:spPr>
          <a:xfrm>
            <a:off x="1325880" y="2331720"/>
            <a:ext cx="868680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C6B7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Depends on human attention span — fatigue and inconsistency creep in over a shift.</a:t>
            </a:r>
            <a:endParaRPr lang="en-US" sz="1400" dirty="0">
              <a:solidFill>
                <a:srgbClr val="5C6B7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4" name="Shape 6"/>
          <p:cNvSpPr/>
          <p:nvPr>
            <p:custDataLst>
              <p:tags r:id="rId5"/>
            </p:custDataLst>
          </p:nvPr>
        </p:nvSpPr>
        <p:spPr>
          <a:xfrm>
            <a:off x="548640" y="324612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65A82"/>
          </a:solidFill>
        </p:spPr>
      </p:sp>
      <p:sp>
        <p:nvSpPr>
          <p:cNvPr id="25" name="Text 7"/>
          <p:cNvSpPr txBox="1"/>
          <p:nvPr>
            <p:custDataLst>
              <p:tags r:id="rId6"/>
            </p:custDataLst>
          </p:nvPr>
        </p:nvSpPr>
        <p:spPr>
          <a:xfrm>
            <a:off x="548640" y="32461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2</a:t>
            </a:r>
            <a:endParaRPr lang="en-US" sz="1800" b="1" dirty="0">
              <a:solidFill>
                <a:srgbClr val="FFFFFF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6" name="Text 8"/>
          <p:cNvSpPr txBox="1"/>
          <p:nvPr>
            <p:custDataLst>
              <p:tags r:id="rId7"/>
            </p:custDataLst>
          </p:nvPr>
        </p:nvSpPr>
        <p:spPr>
          <a:xfrm>
            <a:off x="1325880" y="32004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Cloud-based AI tools</a:t>
            </a:r>
            <a:endParaRPr lang="en-US" sz="1600" b="1" dirty="0">
              <a:solidFill>
                <a:srgbClr val="1B1F2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7" name="Text 9"/>
          <p:cNvSpPr txBox="1"/>
          <p:nvPr>
            <p:custDataLst>
              <p:tags r:id="rId8"/>
            </p:custDataLst>
          </p:nvPr>
        </p:nvSpPr>
        <p:spPr>
          <a:xfrm>
            <a:off x="1325880" y="3566160"/>
            <a:ext cx="868680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C6B7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Solve accuracy, but add latency, an internet dependency, and data-privacy exposure.</a:t>
            </a:r>
            <a:endParaRPr lang="en-US" sz="1400" dirty="0">
              <a:solidFill>
                <a:srgbClr val="5C6B7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9" name="Text 11"/>
          <p:cNvSpPr txBox="1"/>
          <p:nvPr>
            <p:custDataLst>
              <p:tags r:id="rId9"/>
            </p:custDataLst>
          </p:nvPr>
        </p:nvSpPr>
        <p:spPr>
          <a:xfrm>
            <a:off x="2001520" y="39319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b="1" dirty="0">
              <a:solidFill>
                <a:schemeClr val="bg1"/>
              </a:solidFill>
              <a:highlight>
                <a:srgbClr val="000080"/>
              </a:highlight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0" name="Text 12"/>
          <p:cNvSpPr txBox="1"/>
          <p:nvPr>
            <p:custDataLst>
              <p:tags r:id="rId10"/>
            </p:custDataLst>
          </p:nvPr>
        </p:nvSpPr>
        <p:spPr>
          <a:xfrm>
            <a:off x="1325880" y="44348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Industrial inspection hardware</a:t>
            </a:r>
            <a:endParaRPr lang="en-US" sz="1600" b="1" dirty="0">
              <a:solidFill>
                <a:srgbClr val="1B1F2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1" name="Text 13"/>
          <p:cNvSpPr txBox="1"/>
          <p:nvPr>
            <p:custDataLst>
              <p:tags r:id="rId11"/>
            </p:custDataLst>
          </p:nvPr>
        </p:nvSpPr>
        <p:spPr>
          <a:xfrm>
            <a:off x="1325880" y="4800600"/>
            <a:ext cx="868680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C6B7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Accurate and fast, but priced far out of reach for small food producers and workshops.</a:t>
            </a:r>
            <a:endParaRPr lang="en-US" sz="1400" dirty="0">
              <a:solidFill>
                <a:srgbClr val="5C6B7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2" name="Text 14"/>
          <p:cNvSpPr txBox="1"/>
          <p:nvPr/>
        </p:nvSpPr>
        <p:spPr>
          <a:xfrm>
            <a:off x="548640" y="58521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There is a need for a fast, private, self-contained inspection tool that runs entirely on the device performing the inspection.</a:t>
            </a:r>
            <a:endParaRPr lang="en-US" sz="1600" dirty="0">
              <a:solidFill>
                <a:schemeClr val="tx1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33" name="Text 15"/>
          <p:cNvSpPr txBox="1"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5" name="Text 7"/>
          <p:cNvSpPr txBox="1"/>
          <p:nvPr>
            <p:custDataLst>
              <p:tags r:id="rId12"/>
            </p:custDataLst>
          </p:nvPr>
        </p:nvSpPr>
        <p:spPr>
          <a:xfrm>
            <a:off x="548640" y="44805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2</a:t>
            </a:r>
            <a:endParaRPr lang="en-US" sz="1800" b="1" dirty="0">
              <a:solidFill>
                <a:srgbClr val="FFFFFF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7" name="Shape 6"/>
          <p:cNvSpPr/>
          <p:nvPr>
            <p:custDataLst>
              <p:tags r:id="rId13"/>
            </p:custDataLst>
          </p:nvPr>
        </p:nvSpPr>
        <p:spPr>
          <a:xfrm>
            <a:off x="548640" y="448056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65A82"/>
          </a:solidFill>
        </p:spPr>
        <p:txBody>
          <a:bodyPr/>
          <a:p>
            <a:pPr marL="0" indent="0" algn="ctr">
              <a:buNone/>
            </a:pPr>
            <a:r>
              <a:rPr lang="en-IN" altLang="en-GB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3</a:t>
            </a:r>
            <a:endParaRPr lang="en-IN" altLang="en-GB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THE SOLUTION</a:t>
            </a:r>
            <a:endParaRPr lang="en-US" sz="1400" b="1" kern="0" spc="200" dirty="0">
              <a:solidFill>
                <a:schemeClr val="tx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F2A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SmartQC: factory-grade inspection, without the factory-grade price tag</a:t>
            </a:r>
            <a:endParaRPr lang="en-US" sz="2400" b="1" dirty="0">
              <a:solidFill>
                <a:srgbClr val="1B1F2A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548640" y="1920240"/>
            <a:ext cx="5120640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>
            <p:custDataLst>
              <p:tags r:id="rId2"/>
            </p:custDataLst>
          </p:nvPr>
        </p:nvSpPr>
        <p:spPr>
          <a:xfrm>
            <a:off x="868680" y="21488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WHO IT'S FOR</a:t>
            </a:r>
            <a:endParaRPr lang="en-US" sz="1100" b="1" kern="0" spc="150" dirty="0">
              <a:solidFill>
                <a:schemeClr val="tx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6" name="Text 4"/>
          <p:cNvSpPr txBox="1"/>
          <p:nvPr>
            <p:custDataLst>
              <p:tags r:id="rId3"/>
            </p:custDataLst>
          </p:nvPr>
        </p:nvSpPr>
        <p:spPr>
          <a:xfrm>
            <a:off x="868680" y="2450592"/>
            <a:ext cx="45720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2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Small bakeries, food producers, and workshops that need reliable visual QC but can't justify a dedicated inspection line.</a:t>
            </a:r>
            <a:endParaRPr lang="en-US" sz="1350" dirty="0">
              <a:solidFill>
                <a:srgbClr val="1B1F2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7" name="Text 5"/>
          <p:cNvSpPr txBox="1"/>
          <p:nvPr>
            <p:custDataLst>
              <p:tags r:id="rId4"/>
            </p:custDataLst>
          </p:nvPr>
        </p:nvSpPr>
        <p:spPr>
          <a:xfrm>
            <a:off x="868680" y="34747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WHAT IT DOES</a:t>
            </a:r>
            <a:endParaRPr lang="en-US" sz="1100" b="1" kern="0" spc="150" dirty="0">
              <a:solidFill>
                <a:schemeClr val="tx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8" name="Text 6"/>
          <p:cNvSpPr txBox="1"/>
          <p:nvPr>
            <p:custDataLst>
              <p:tags r:id="rId5"/>
            </p:custDataLst>
          </p:nvPr>
        </p:nvSpPr>
        <p:spPr>
          <a:xfrm>
            <a:off x="868680" y="3776472"/>
            <a:ext cx="45720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2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Classifies product quality from a webcam or uploaded image, entirely on-device — no cloud calls, no internet dependency at inference time.</a:t>
            </a:r>
            <a:endParaRPr lang="en-US" sz="1350" dirty="0">
              <a:solidFill>
                <a:srgbClr val="1B1F2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9" name="Text 7"/>
          <p:cNvSpPr txBox="1"/>
          <p:nvPr>
            <p:custDataLst>
              <p:tags r:id="rId6"/>
            </p:custDataLst>
          </p:nvPr>
        </p:nvSpPr>
        <p:spPr>
          <a:xfrm>
            <a:off x="868680" y="493776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WHY IT MATTERS</a:t>
            </a:r>
            <a:endParaRPr lang="en-US" sz="1100" b="1" kern="0" spc="150" dirty="0">
              <a:solidFill>
                <a:schemeClr val="tx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0" name="Text 8"/>
          <p:cNvSpPr txBox="1"/>
          <p:nvPr>
            <p:custDataLst>
              <p:tags r:id="rId7"/>
            </p:custDataLst>
          </p:nvPr>
        </p:nvSpPr>
        <p:spPr>
          <a:xfrm>
            <a:off x="868680" y="5239512"/>
            <a:ext cx="45720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2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Runs on a Snapdragon laptop the business may already own — zero extra hardware cost.</a:t>
            </a:r>
            <a:endParaRPr lang="en-US" sz="1350" dirty="0">
              <a:solidFill>
                <a:srgbClr val="1B1F2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309360" y="1920240"/>
            <a:ext cx="5303520" cy="4251960"/>
          </a:xfrm>
          <a:prstGeom prst="roundRect">
            <a:avLst>
              <a:gd name="adj" fmla="val 2581"/>
            </a:avLst>
          </a:prstGeom>
          <a:solidFill>
            <a:srgbClr val="21295C"/>
          </a:solidFill>
        </p:spPr>
      </p:sp>
      <p:sp>
        <p:nvSpPr>
          <p:cNvPr id="12" name="Text 10"/>
          <p:cNvSpPr txBox="1"/>
          <p:nvPr/>
        </p:nvSpPr>
        <p:spPr>
          <a:xfrm>
            <a:off x="6675120" y="22860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chemeClr val="bg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VALUE PROPOSITION</a:t>
            </a:r>
            <a:endParaRPr lang="en-US" sz="1200" b="1" kern="0" spc="150" dirty="0">
              <a:solidFill>
                <a:schemeClr val="bg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675120" y="2834640"/>
            <a:ext cx="45720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“Factory-grade visual inspection, without the factory-grade price tag.”</a:t>
            </a:r>
            <a:endParaRPr lang="en-US" sz="2800" b="1" dirty="0">
              <a:solidFill>
                <a:srgbClr val="FFFFFF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675120" y="4572000"/>
            <a:ext cx="44805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>
              <a:solidFill>
                <a:srgbClr val="CADCFC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4577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HOW IT WORKS</a:t>
            </a:r>
            <a:endParaRPr lang="en-US" sz="1400" b="1" kern="0" spc="200" dirty="0">
              <a:solidFill>
                <a:schemeClr val="tx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81153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1F2A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Architecture</a:t>
            </a:r>
            <a:endParaRPr lang="en-US" sz="3600" b="1" dirty="0">
              <a:solidFill>
                <a:srgbClr val="1B1F2A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2971800"/>
            <a:ext cx="1874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2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Webcam / Image</a:t>
            </a:r>
            <a:endParaRPr lang="en-US" sz="1300" b="1" dirty="0">
              <a:solidFill>
                <a:srgbClr val="1B1F2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40080" y="3456432"/>
            <a:ext cx="1691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7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Live capture or upload</a:t>
            </a:r>
            <a:endParaRPr lang="en-US" sz="1200" dirty="0">
              <a:solidFill>
                <a:srgbClr val="5C6B7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2423160" y="3154680"/>
            <a:ext cx="25603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→</a:t>
            </a:r>
            <a:endParaRPr lang="en-US" sz="2000" b="1" dirty="0">
              <a:solidFill>
                <a:srgbClr val="1C7293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679192" y="274320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679192" y="2971800"/>
            <a:ext cx="1874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2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Preprocess</a:t>
            </a:r>
            <a:endParaRPr lang="en-US" sz="1300" b="1" dirty="0">
              <a:solidFill>
                <a:srgbClr val="1B1F2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2770632" y="3456432"/>
            <a:ext cx="1691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7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OpenCV / PIL</a:t>
            </a:r>
            <a:endParaRPr lang="en-US" sz="1200" dirty="0">
              <a:solidFill>
                <a:srgbClr val="5C6B7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4553712" y="3154680"/>
            <a:ext cx="25603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→</a:t>
            </a:r>
            <a:endParaRPr lang="en-US" sz="2000" b="1" dirty="0">
              <a:solidFill>
                <a:srgbClr val="1C7293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809744" y="274320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809744" y="2971800"/>
            <a:ext cx="1874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AI Hub Model</a:t>
            </a:r>
            <a:endParaRPr lang="en-US" sz="1300" b="1" dirty="0">
              <a:solidFill>
                <a:srgbClr val="FFFFFF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4901184" y="3456432"/>
            <a:ext cx="1691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Quantized ONNX</a:t>
            </a:r>
            <a:endParaRPr lang="en-US" sz="1200" dirty="0">
              <a:solidFill>
                <a:srgbClr val="CADCFC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684264" y="3154680"/>
            <a:ext cx="25603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→</a:t>
            </a:r>
            <a:endParaRPr lang="en-US" sz="2000" b="1" dirty="0">
              <a:solidFill>
                <a:srgbClr val="1C7293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940296" y="274320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940296" y="2971800"/>
            <a:ext cx="1874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ONNX Runtime</a:t>
            </a:r>
            <a:endParaRPr lang="en-US" sz="1300" b="1" dirty="0">
              <a:solidFill>
                <a:srgbClr val="FFFFFF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7031736" y="3456432"/>
            <a:ext cx="1691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+ QNN Execution Provider</a:t>
            </a:r>
            <a:endParaRPr lang="en-US" sz="1200" dirty="0">
              <a:solidFill>
                <a:srgbClr val="CADCFC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8814816" y="3154680"/>
            <a:ext cx="25603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→</a:t>
            </a:r>
            <a:endParaRPr lang="en-US" sz="2000" b="1" dirty="0">
              <a:solidFill>
                <a:srgbClr val="1C7293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070848" y="274320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070848" y="2971800"/>
            <a:ext cx="1874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2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Result</a:t>
            </a:r>
            <a:endParaRPr lang="en-US" sz="1300" b="1" dirty="0">
              <a:solidFill>
                <a:srgbClr val="1B1F2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9162288" y="3456432"/>
            <a:ext cx="1691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7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Label + confidence + latency</a:t>
            </a:r>
            <a:endParaRPr lang="en-US" sz="1200" dirty="0">
              <a:solidFill>
                <a:srgbClr val="5C6B7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548640" y="46634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C6B7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The optimized model and ONNX Runtime + QNN Execution Provider path are what make this pipeline Snapdragon-NPU-ready.</a:t>
            </a:r>
            <a:endParaRPr lang="en-US" sz="1600" dirty="0">
              <a:solidFill>
                <a:srgbClr val="5C6B7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48640" y="5349240"/>
            <a:ext cx="10698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5349240"/>
            <a:ext cx="101498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1F2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App features:  </a:t>
            </a:r>
            <a:r>
              <a:rPr lang="en-US" sz="1600" dirty="0">
                <a:solidFill>
                  <a:srgbClr val="5C6B7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live webcam / upload inspection  •  batch folder inspection + CSV export  •  confidence threshold flagging  •  local SQLite history log  •  rolling defect-rate trend chart  •  fully offline at inference time</a:t>
            </a:r>
            <a:endParaRPr lang="en-US" sz="1600" dirty="0">
              <a:solidFill>
                <a:srgbClr val="5C6B7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WHY ON-DEVICE, WHY SNAPDRAGON</a:t>
            </a:r>
            <a:endParaRPr lang="en-US" sz="1400" b="1" kern="0" spc="200" dirty="0">
              <a:solidFill>
                <a:schemeClr val="tx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A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Built for where inspection actually happens</a:t>
            </a:r>
            <a:endParaRPr lang="en-US" sz="3200" b="1" dirty="0">
              <a:solidFill>
                <a:srgbClr val="1B1F2A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493776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240280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2A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Cloud-based inspection</a:t>
            </a:r>
            <a:endParaRPr lang="en-US" sz="1700" b="1" dirty="0">
              <a:solidFill>
                <a:srgbClr val="1B1F2A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68680" y="2880360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7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✗  Needs constant internet</a:t>
            </a:r>
            <a:endParaRPr lang="en-US" sz="1400" dirty="0">
              <a:solidFill>
                <a:srgbClr val="5C6B7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68680" y="3447288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7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✗  Per-image / API cost</a:t>
            </a:r>
            <a:endParaRPr lang="en-US" sz="1350" dirty="0">
              <a:solidFill>
                <a:srgbClr val="5C6B7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68680" y="4014216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7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✗  Data leaves the device</a:t>
            </a:r>
            <a:endParaRPr lang="en-US" sz="1350" dirty="0">
              <a:solidFill>
                <a:srgbClr val="5C6B7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68680" y="4581144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7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✗  Latency varies with connection</a:t>
            </a:r>
            <a:endParaRPr lang="en-US" sz="1350" dirty="0">
              <a:solidFill>
                <a:srgbClr val="5C6B7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943600" y="1965960"/>
            <a:ext cx="4937760" cy="3566160"/>
          </a:xfrm>
          <a:prstGeom prst="roundRect">
            <a:avLst>
              <a:gd name="adj" fmla="val 3077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63640" y="2240280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SmartQC on Snapdragon</a:t>
            </a:r>
            <a:endParaRPr lang="en-US" sz="1700" b="1" dirty="0">
              <a:solidFill>
                <a:srgbClr val="FFFFFF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263640" y="2880360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ADCF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✓  Fully offline at inference</a:t>
            </a:r>
            <a:endParaRPr lang="en-US" sz="1350" b="1" dirty="0">
              <a:solidFill>
                <a:srgbClr val="CADCFC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263640" y="3447288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ADCF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✓  Zero marginal cost per scan</a:t>
            </a:r>
            <a:endParaRPr lang="en-US" sz="1350" b="1" dirty="0">
              <a:solidFill>
                <a:srgbClr val="CADCFC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263640" y="4014216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ADCF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✓  All data stays on-device</a:t>
            </a:r>
            <a:endParaRPr lang="en-US" sz="1350" b="1" dirty="0">
              <a:solidFill>
                <a:srgbClr val="CADCFC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263640" y="4581144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ADCF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✓  NPU-optimized, low-latency</a:t>
            </a:r>
            <a:endParaRPr lang="en-US" sz="1350" b="1" dirty="0">
              <a:solidFill>
                <a:srgbClr val="CADCFC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548640" y="576072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Snapdragon's on-device NPU + long battery life means SmartQC can run all day on a shop floor — unplugged, private, and instant.</a:t>
            </a:r>
            <a:endParaRPr lang="en-US" sz="1400" dirty="0">
              <a:solidFill>
                <a:schemeClr val="tx1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MODEL TRAINING</a:t>
            </a:r>
            <a:endParaRPr lang="en-US" sz="1400" b="1" kern="0" spc="200" dirty="0">
              <a:solidFill>
                <a:schemeClr val="tx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A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MobileNetV2, fine-tuned to 99.2% validation accuracy</a:t>
            </a:r>
            <a:endParaRPr lang="en-US" sz="3200" b="1" dirty="0">
              <a:solidFill>
                <a:srgbClr val="1B1F2A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pic>
        <p:nvPicPr>
          <p:cNvPr id="4" name="Image 0" descr="assets/training_accuracy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793105" y="1792605"/>
            <a:ext cx="5865495" cy="315658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93105" y="1791970"/>
            <a:ext cx="5866130" cy="3157220"/>
          </a:xfrm>
          <a:prstGeom prst="roundRect">
            <a:avLst>
              <a:gd name="adj" fmla="val 2540"/>
            </a:avLst>
          </a:prstGeom>
          <a:ln w="12700">
            <a:solidFill>
              <a:srgbClr val="DCE3E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103120"/>
            <a:ext cx="21945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tx1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99.2%</a:t>
            </a:r>
            <a:endParaRPr lang="en-US" sz="4400" b="1" dirty="0">
              <a:solidFill>
                <a:schemeClr val="tx1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2834640" y="2240280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Best validation accuracy</a:t>
            </a:r>
            <a:endParaRPr lang="en-US" sz="1300" dirty="0">
              <a:solidFill>
                <a:srgbClr val="5C6B7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548640" y="3108960"/>
            <a:ext cx="21945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tx1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649</a:t>
            </a:r>
            <a:endParaRPr lang="en-US" sz="4400" b="1" dirty="0">
              <a:solidFill>
                <a:schemeClr val="tx1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2834640" y="3246120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Total labeled images (Fresh / Mold bread)</a:t>
            </a:r>
            <a:endParaRPr lang="en-US" sz="1300" dirty="0">
              <a:solidFill>
                <a:srgbClr val="5C6B7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548640" y="4114800"/>
            <a:ext cx="21945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tx1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12</a:t>
            </a:r>
            <a:endParaRPr lang="en-US" sz="4400" b="1" dirty="0">
              <a:solidFill>
                <a:schemeClr val="tx1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2834640" y="4251960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Training epochs</a:t>
            </a:r>
            <a:endParaRPr lang="en-US" sz="1300" dirty="0">
              <a:solidFill>
                <a:srgbClr val="5C6B7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548640" y="53949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7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Fine-tuned on a Fresh Bread (Good) / Mold Bread (Defective) dataset using transfer learning from ImageNet-pretrained MobileNetV2</a:t>
            </a:r>
            <a:endParaRPr lang="en-US" sz="1400" dirty="0">
              <a:solidFill>
                <a:srgbClr val="5C6B7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MODEL EVALUATION</a:t>
            </a:r>
            <a:endParaRPr lang="en-US" sz="1400" b="1" kern="0" spc="200" dirty="0">
              <a:solidFill>
                <a:schemeClr val="tx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6" name="Text 1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2A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Beyond accuracy: confusion matrix, precision/recall, ROC-AUC</a:t>
            </a:r>
            <a:endParaRPr lang="en-US" sz="2800" b="1" dirty="0">
              <a:solidFill>
                <a:srgbClr val="1B1F2A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17" name="Shape 2"/>
          <p:cNvSpPr/>
          <p:nvPr/>
        </p:nvSpPr>
        <p:spPr>
          <a:xfrm>
            <a:off x="548640" y="2011680"/>
            <a:ext cx="5120640" cy="2880360"/>
          </a:xfrm>
          <a:prstGeom prst="roundRect">
            <a:avLst>
              <a:gd name="adj" fmla="val 2540"/>
            </a:avLst>
          </a:prstGeom>
          <a:ln w="12700">
            <a:solidFill>
              <a:srgbClr val="DCE3E8"/>
            </a:solidFill>
            <a:prstDash val="solid"/>
          </a:ln>
        </p:spPr>
      </p:sp>
      <p:sp>
        <p:nvSpPr>
          <p:cNvPr id="18" name="Shape 3"/>
          <p:cNvSpPr/>
          <p:nvPr/>
        </p:nvSpPr>
        <p:spPr>
          <a:xfrm>
            <a:off x="6309360" y="2011680"/>
            <a:ext cx="5303520" cy="2880360"/>
          </a:xfrm>
          <a:prstGeom prst="roundRect">
            <a:avLst>
              <a:gd name="adj" fmla="val 2540"/>
            </a:avLst>
          </a:prstGeom>
          <a:ln w="12700">
            <a:solidFill>
              <a:srgbClr val="DCE3E8"/>
            </a:solidFill>
            <a:prstDash val="solid"/>
          </a:ln>
        </p:spPr>
      </p:sp>
      <p:sp>
        <p:nvSpPr>
          <p:cNvPr id="19" name="Text 4"/>
          <p:cNvSpPr txBox="1"/>
          <p:nvPr/>
        </p:nvSpPr>
        <p:spPr>
          <a:xfrm>
            <a:off x="2061845" y="5074920"/>
            <a:ext cx="3291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129</a:t>
            </a:r>
            <a:endParaRPr lang="en-US" sz="2600" b="1" dirty="0">
              <a:solidFill>
                <a:schemeClr val="tx1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20" name="Text 5"/>
          <p:cNvSpPr txBox="1"/>
          <p:nvPr/>
        </p:nvSpPr>
        <p:spPr>
          <a:xfrm>
            <a:off x="1826260" y="557784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Validation images</a:t>
            </a:r>
            <a:endParaRPr lang="en-US" sz="1150" dirty="0">
              <a:solidFill>
                <a:srgbClr val="5C6B7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1" name="Text 6"/>
          <p:cNvSpPr txBox="1"/>
          <p:nvPr/>
        </p:nvSpPr>
        <p:spPr>
          <a:xfrm>
            <a:off x="5279390" y="5074920"/>
            <a:ext cx="102933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altLang="en-US" sz="2600" b="1" dirty="0">
                <a:solidFill>
                  <a:schemeClr val="tx1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        </a:t>
            </a:r>
            <a:r>
              <a:rPr lang="en-US" sz="2600" b="1" dirty="0">
                <a:solidFill>
                  <a:schemeClr val="tx1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1</a:t>
            </a:r>
            <a:endParaRPr lang="en-US" sz="2600" b="1" dirty="0">
              <a:solidFill>
                <a:schemeClr val="tx1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22" name="Text 7"/>
          <p:cNvSpPr txBox="1"/>
          <p:nvPr/>
        </p:nvSpPr>
        <p:spPr>
          <a:xfrm>
            <a:off x="5279390" y="557784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Total misclassifications</a:t>
            </a:r>
            <a:endParaRPr lang="en-US" sz="1150" dirty="0">
              <a:solidFill>
                <a:srgbClr val="5C6B7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3" name="Text 8"/>
          <p:cNvSpPr txBox="1"/>
          <p:nvPr/>
        </p:nvSpPr>
        <p:spPr>
          <a:xfrm>
            <a:off x="8531225" y="5074920"/>
            <a:ext cx="3291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0.9997</a:t>
            </a:r>
            <a:endParaRPr lang="en-US" sz="2600" b="1" dirty="0">
              <a:solidFill>
                <a:schemeClr val="tx1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24" name="Text 9"/>
          <p:cNvSpPr txBox="1"/>
          <p:nvPr/>
        </p:nvSpPr>
        <p:spPr>
          <a:xfrm>
            <a:off x="8732520" y="545338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ROC-AUC</a:t>
            </a:r>
            <a:endParaRPr lang="en-US" sz="1150" dirty="0">
              <a:solidFill>
                <a:srgbClr val="5C6B7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12315"/>
            <a:ext cx="5107305" cy="290512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012315"/>
            <a:ext cx="5302885" cy="29051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QUALCOMM AI HUB</a:t>
            </a:r>
            <a:endParaRPr lang="en-US" b="1" kern="0" spc="200" dirty="0">
              <a:solidFill>
                <a:schemeClr val="tx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0" name="Text 1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A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Compiled and optimized for the Snapdragon X Elite</a:t>
            </a:r>
            <a:endParaRPr lang="en-US" sz="3200" b="1" dirty="0">
              <a:solidFill>
                <a:srgbClr val="1B1F2A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11" name="Shape 2"/>
          <p:cNvSpPr/>
          <p:nvPr/>
        </p:nvSpPr>
        <p:spPr>
          <a:xfrm>
            <a:off x="548640" y="2381885"/>
            <a:ext cx="10698480" cy="2094230"/>
          </a:xfrm>
          <a:prstGeom prst="roundRect">
            <a:avLst>
              <a:gd name="adj" fmla="val 1810"/>
            </a:avLst>
          </a:prstGeom>
          <a:ln w="12700">
            <a:solidFill>
              <a:srgbClr val="DCE3E8"/>
            </a:solidFill>
            <a:prstDash val="solid"/>
          </a:ln>
        </p:spPr>
      </p:sp>
      <p:sp>
        <p:nvSpPr>
          <p:cNvPr id="12" name="Shape 3"/>
          <p:cNvSpPr/>
          <p:nvPr/>
        </p:nvSpPr>
        <p:spPr>
          <a:xfrm>
            <a:off x="548640" y="5340350"/>
            <a:ext cx="10698480" cy="457200"/>
          </a:xfrm>
          <a:prstGeom prst="roundRect">
            <a:avLst>
              <a:gd name="adj" fmla="val 12000"/>
            </a:avLst>
          </a:prstGeom>
          <a:solidFill>
            <a:srgbClr val="21295C"/>
          </a:solidFill>
        </p:spPr>
      </p:sp>
      <p:sp>
        <p:nvSpPr>
          <p:cNvPr id="13" name="Text 4"/>
          <p:cNvSpPr txBox="1"/>
          <p:nvPr/>
        </p:nvSpPr>
        <p:spPr>
          <a:xfrm>
            <a:off x="548640" y="5340350"/>
            <a:ext cx="1065657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Compile job jpe782z15  •  Target: Snapdragon X Elite CRD  •  Status: Results Ready</a:t>
            </a:r>
            <a:endParaRPr lang="en-US" b="1" dirty="0">
              <a:solidFill>
                <a:schemeClr val="bg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pic>
        <p:nvPicPr>
          <p:cNvPr id="15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50745"/>
            <a:ext cx="10665460" cy="22917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LIVE DEMO</a:t>
            </a:r>
            <a:endParaRPr lang="en-US" b="1" kern="0" spc="200" dirty="0">
              <a:solidFill>
                <a:schemeClr val="tx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4" name="Text 1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A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Correctly classifies both good and defective samples</a:t>
            </a:r>
            <a:endParaRPr lang="en-US" sz="3200" b="1" dirty="0">
              <a:solidFill>
                <a:srgbClr val="1B1F2A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15" name="Shape 2"/>
          <p:cNvSpPr/>
          <p:nvPr/>
        </p:nvSpPr>
        <p:spPr>
          <a:xfrm>
            <a:off x="548640" y="1965960"/>
            <a:ext cx="5120640" cy="3520440"/>
          </a:xfrm>
          <a:prstGeom prst="roundRect">
            <a:avLst>
              <a:gd name="adj" fmla="val 2078"/>
            </a:avLst>
          </a:prstGeom>
          <a:ln w="12700">
            <a:solidFill>
              <a:srgbClr val="DCE3E8"/>
            </a:solidFill>
            <a:prstDash val="solid"/>
          </a:ln>
        </p:spPr>
      </p:sp>
      <p:sp>
        <p:nvSpPr>
          <p:cNvPr id="16" name="Shape 3"/>
          <p:cNvSpPr/>
          <p:nvPr/>
        </p:nvSpPr>
        <p:spPr>
          <a:xfrm>
            <a:off x="548640" y="5623560"/>
            <a:ext cx="5120640" cy="502920"/>
          </a:xfrm>
          <a:prstGeom prst="roundRect">
            <a:avLst>
              <a:gd name="adj" fmla="val 10909"/>
            </a:avLst>
          </a:prstGeom>
          <a:solidFill>
            <a:srgbClr val="1FA774"/>
          </a:solidFill>
        </p:spPr>
      </p:sp>
      <p:sp>
        <p:nvSpPr>
          <p:cNvPr id="17" name="Text 4"/>
          <p:cNvSpPr txBox="1"/>
          <p:nvPr/>
        </p:nvSpPr>
        <p:spPr>
          <a:xfrm>
            <a:off x="548640" y="5623560"/>
            <a:ext cx="5120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GOOD — 100.0% confidence</a:t>
            </a:r>
            <a:endParaRPr lang="en-US" sz="1400" b="1" dirty="0">
              <a:solidFill>
                <a:srgbClr val="FFFFFF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8" name="Shape 5"/>
          <p:cNvSpPr/>
          <p:nvPr/>
        </p:nvSpPr>
        <p:spPr>
          <a:xfrm>
            <a:off x="6126480" y="1965960"/>
            <a:ext cx="5120640" cy="3520440"/>
          </a:xfrm>
          <a:prstGeom prst="roundRect">
            <a:avLst>
              <a:gd name="adj" fmla="val 2078"/>
            </a:avLst>
          </a:prstGeom>
          <a:ln w="12700">
            <a:solidFill>
              <a:srgbClr val="DCE3E8"/>
            </a:solidFill>
            <a:prstDash val="solid"/>
          </a:ln>
        </p:spPr>
      </p:sp>
      <p:sp>
        <p:nvSpPr>
          <p:cNvPr id="19" name="Shape 6"/>
          <p:cNvSpPr/>
          <p:nvPr/>
        </p:nvSpPr>
        <p:spPr>
          <a:xfrm>
            <a:off x="6126480" y="5623560"/>
            <a:ext cx="5120640" cy="502920"/>
          </a:xfrm>
          <a:prstGeom prst="roundRect">
            <a:avLst>
              <a:gd name="adj" fmla="val 10909"/>
            </a:avLst>
          </a:prstGeom>
          <a:solidFill>
            <a:srgbClr val="D64545"/>
          </a:solidFill>
        </p:spPr>
      </p:sp>
      <p:sp>
        <p:nvSpPr>
          <p:cNvPr id="20" name="Text 7"/>
          <p:cNvSpPr txBox="1"/>
          <p:nvPr/>
        </p:nvSpPr>
        <p:spPr>
          <a:xfrm>
            <a:off x="6126480" y="5623560"/>
            <a:ext cx="5120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DEFECTIVE — 9</a:t>
            </a:r>
            <a:r>
              <a:rPr lang="en-IN" altLang="en-US" sz="1400" b="1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8.4</a:t>
            </a:r>
            <a:r>
              <a:rPr lang="en-US" sz="1400" b="1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% confidence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2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10715"/>
            <a:ext cx="5133975" cy="357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965960"/>
            <a:ext cx="5120005" cy="35191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REAL-WORLD VALIDATION</a:t>
            </a:r>
            <a:endParaRPr lang="en-US" sz="1600" b="1" kern="0" spc="200" dirty="0">
              <a:solidFill>
                <a:schemeClr val="tx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A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Batch-tested against 352 uncurated images</a:t>
            </a:r>
            <a:endParaRPr lang="en-US" sz="3200" b="1" dirty="0">
              <a:solidFill>
                <a:srgbClr val="1B1F2A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42240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7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Beyond the curated 129-image validation set, SmartQC's batch mode was run against a larger, unsorted folder of 352 real-world mold-bread images — a messier, more realistic test than a clean benchmark.</a:t>
            </a:r>
            <a:endParaRPr lang="en-US" sz="1400" dirty="0">
              <a:solidFill>
                <a:srgbClr val="5C6B7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7182853" y="2235200"/>
            <a:ext cx="1720516" cy="118872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 txBox="1"/>
          <p:nvPr>
            <p:custDataLst>
              <p:tags r:id="rId2"/>
            </p:custDataLst>
          </p:nvPr>
        </p:nvSpPr>
        <p:spPr>
          <a:xfrm>
            <a:off x="7182853" y="2360328"/>
            <a:ext cx="1720516" cy="4379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tx1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352</a:t>
            </a:r>
            <a:endParaRPr lang="en-US" sz="3200" b="1" dirty="0">
              <a:solidFill>
                <a:schemeClr val="tx1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7" name="Text 5"/>
          <p:cNvSpPr txBox="1"/>
          <p:nvPr>
            <p:custDataLst>
              <p:tags r:id="rId3"/>
            </p:custDataLst>
          </p:nvPr>
        </p:nvSpPr>
        <p:spPr>
          <a:xfrm>
            <a:off x="7276699" y="2829560"/>
            <a:ext cx="1532823" cy="5005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7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Images batch-processed</a:t>
            </a:r>
            <a:endParaRPr lang="en-US" sz="1100" dirty="0">
              <a:solidFill>
                <a:srgbClr val="5C6B7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8" name="Shape 6"/>
          <p:cNvSpPr/>
          <p:nvPr>
            <p:custDataLst>
              <p:tags r:id="rId4"/>
            </p:custDataLst>
          </p:nvPr>
        </p:nvSpPr>
        <p:spPr>
          <a:xfrm>
            <a:off x="9059779" y="2235200"/>
            <a:ext cx="1720516" cy="118872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>
            <p:custDataLst>
              <p:tags r:id="rId5"/>
            </p:custDataLst>
          </p:nvPr>
        </p:nvSpPr>
        <p:spPr>
          <a:xfrm>
            <a:off x="9059779" y="2360328"/>
            <a:ext cx="1720516" cy="4379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tx1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343</a:t>
            </a:r>
            <a:endParaRPr lang="en-US" sz="3200" b="1" dirty="0">
              <a:solidFill>
                <a:schemeClr val="tx1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10" name="Text 8"/>
          <p:cNvSpPr txBox="1"/>
          <p:nvPr>
            <p:custDataLst>
              <p:tags r:id="rId6"/>
            </p:custDataLst>
          </p:nvPr>
        </p:nvSpPr>
        <p:spPr>
          <a:xfrm>
            <a:off x="9153625" y="2829560"/>
            <a:ext cx="1532823" cy="5005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7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Correctly flagged DEFECTIVE</a:t>
            </a:r>
            <a:endParaRPr lang="en-US" sz="1100" dirty="0">
              <a:solidFill>
                <a:srgbClr val="5C6B7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1" name="Shape 9"/>
          <p:cNvSpPr/>
          <p:nvPr>
            <p:custDataLst>
              <p:tags r:id="rId7"/>
            </p:custDataLst>
          </p:nvPr>
        </p:nvSpPr>
        <p:spPr>
          <a:xfrm>
            <a:off x="7183220" y="3901440"/>
            <a:ext cx="1720516" cy="118872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>
            <p:custDataLst>
              <p:tags r:id="rId8"/>
            </p:custDataLst>
          </p:nvPr>
        </p:nvSpPr>
        <p:spPr>
          <a:xfrm>
            <a:off x="7183855" y="4053873"/>
            <a:ext cx="1720516" cy="4379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tx1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6</a:t>
            </a:r>
            <a:endParaRPr lang="en-US" sz="3200" b="1" dirty="0">
              <a:solidFill>
                <a:schemeClr val="tx1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13" name="Text 11"/>
          <p:cNvSpPr txBox="1"/>
          <p:nvPr>
            <p:custDataLst>
              <p:tags r:id="rId9"/>
            </p:custDataLst>
          </p:nvPr>
        </p:nvSpPr>
        <p:spPr>
          <a:xfrm>
            <a:off x="7277067" y="4523740"/>
            <a:ext cx="1532823" cy="5005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7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Flagged UNCERTAIN (below threshold)</a:t>
            </a:r>
            <a:endParaRPr lang="en-US" sz="1100" dirty="0">
              <a:solidFill>
                <a:srgbClr val="5C6B7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4" name="Shape 12"/>
          <p:cNvSpPr/>
          <p:nvPr>
            <p:custDataLst>
              <p:tags r:id="rId10"/>
            </p:custDataLst>
          </p:nvPr>
        </p:nvSpPr>
        <p:spPr>
          <a:xfrm>
            <a:off x="9060147" y="3901440"/>
            <a:ext cx="1720516" cy="118872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 txBox="1"/>
          <p:nvPr>
            <p:custDataLst>
              <p:tags r:id="rId11"/>
            </p:custDataLst>
          </p:nvPr>
        </p:nvSpPr>
        <p:spPr>
          <a:xfrm>
            <a:off x="9060147" y="4126263"/>
            <a:ext cx="1720516" cy="4379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tx1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3</a:t>
            </a:r>
            <a:endParaRPr lang="en-US" sz="3200" b="1" dirty="0">
              <a:solidFill>
                <a:schemeClr val="tx1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16" name="Text 14"/>
          <p:cNvSpPr txBox="1"/>
          <p:nvPr>
            <p:custDataLst>
              <p:tags r:id="rId12"/>
            </p:custDataLst>
          </p:nvPr>
        </p:nvSpPr>
        <p:spPr>
          <a:xfrm>
            <a:off x="9153358" y="4523740"/>
            <a:ext cx="1532823" cy="5005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7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Misclassified (edge cases)</a:t>
            </a:r>
            <a:endParaRPr lang="en-US" sz="1100" dirty="0">
              <a:solidFill>
                <a:srgbClr val="5C6B7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5892165"/>
            <a:ext cx="10698480" cy="782955"/>
          </a:xfrm>
          <a:prstGeom prst="roundRect">
            <a:avLst>
              <a:gd name="adj" fmla="val 6667"/>
            </a:avLst>
          </a:prstGeom>
          <a:solidFill>
            <a:srgbClr val="21295C"/>
          </a:solidFill>
        </p:spPr>
      </p:sp>
      <p:sp>
        <p:nvSpPr>
          <p:cNvPr id="18" name="Text 16"/>
          <p:cNvSpPr txBox="1"/>
          <p:nvPr/>
        </p:nvSpPr>
        <p:spPr>
          <a:xfrm>
            <a:off x="685800" y="5608320"/>
            <a:ext cx="100584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97.4% correct on an uncurated real-world batch — and the confidence-threshold feature caught the ambiguous cases instead of silently guessing wrong.</a:t>
            </a:r>
            <a:endParaRPr lang="en-US" dirty="0">
              <a:solidFill>
                <a:srgbClr val="FFFFFF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8640" y="2076450"/>
            <a:ext cx="5998845" cy="34613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BEYOND CLASSIFICATION</a:t>
            </a:r>
            <a:endParaRPr lang="en-US" sz="1600" b="1" kern="0" spc="200" dirty="0">
              <a:solidFill>
                <a:schemeClr val="tx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7" name="Text 1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A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Explainability: showing WHY, not just what</a:t>
            </a:r>
            <a:endParaRPr lang="en-US" sz="3200" b="1" dirty="0">
              <a:solidFill>
                <a:srgbClr val="1B1F2A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18" name="Shape 2"/>
          <p:cNvSpPr/>
          <p:nvPr/>
        </p:nvSpPr>
        <p:spPr>
          <a:xfrm>
            <a:off x="548640" y="1965960"/>
            <a:ext cx="5120640" cy="3566160"/>
          </a:xfrm>
          <a:prstGeom prst="roundRect">
            <a:avLst>
              <a:gd name="adj" fmla="val 2051"/>
            </a:avLst>
          </a:prstGeom>
          <a:ln w="12700">
            <a:solidFill>
              <a:srgbClr val="DCE3E8"/>
            </a:solidFill>
            <a:prstDash val="solid"/>
          </a:ln>
        </p:spPr>
      </p:sp>
      <p:sp>
        <p:nvSpPr>
          <p:cNvPr id="19" name="Shape 3"/>
          <p:cNvSpPr/>
          <p:nvPr>
            <p:custDataLst>
              <p:tags r:id="rId1"/>
            </p:custDataLst>
          </p:nvPr>
        </p:nvSpPr>
        <p:spPr>
          <a:xfrm>
            <a:off x="6309360" y="2103120"/>
            <a:ext cx="109728" cy="822960"/>
          </a:xfrm>
          <a:prstGeom prst="roundRect">
            <a:avLst>
              <a:gd name="adj" fmla="val 25000"/>
            </a:avLst>
          </a:prstGeom>
          <a:solidFill>
            <a:srgbClr val="065A82"/>
          </a:solidFill>
        </p:spPr>
      </p:sp>
      <p:sp>
        <p:nvSpPr>
          <p:cNvPr id="20" name="Text 4"/>
          <p:cNvSpPr txBox="1"/>
          <p:nvPr>
            <p:custDataLst>
              <p:tags r:id="rId2"/>
            </p:custDataLst>
          </p:nvPr>
        </p:nvSpPr>
        <p:spPr>
          <a:xfrm>
            <a:off x="6583680" y="20574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Grad-CAM heatmap</a:t>
            </a:r>
            <a:endParaRPr lang="en-US" sz="1500" b="1" dirty="0">
              <a:solidFill>
                <a:srgbClr val="1B1F2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1" name="Text 5"/>
          <p:cNvSpPr txBox="1"/>
          <p:nvPr>
            <p:custDataLst>
              <p:tags r:id="rId3"/>
            </p:custDataLst>
          </p:nvPr>
        </p:nvSpPr>
        <p:spPr>
          <a:xfrm>
            <a:off x="6583680" y="242316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7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Highlights exactly which pixels drove the model's decision — warmer colors (red/yellow) show the highest-influence regions.</a:t>
            </a:r>
            <a:endParaRPr lang="en-US" sz="1250" dirty="0">
              <a:solidFill>
                <a:srgbClr val="5C6B7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2" name="Shape 6"/>
          <p:cNvSpPr/>
          <p:nvPr>
            <p:custDataLst>
              <p:tags r:id="rId4"/>
            </p:custDataLst>
          </p:nvPr>
        </p:nvSpPr>
        <p:spPr>
          <a:xfrm>
            <a:off x="6309360" y="3337560"/>
            <a:ext cx="109728" cy="822960"/>
          </a:xfrm>
          <a:prstGeom prst="roundRect">
            <a:avLst>
              <a:gd name="adj" fmla="val 25000"/>
            </a:avLst>
          </a:prstGeom>
          <a:solidFill>
            <a:srgbClr val="065A82"/>
          </a:solidFill>
        </p:spPr>
      </p:sp>
      <p:sp>
        <p:nvSpPr>
          <p:cNvPr id="23" name="Text 7"/>
          <p:cNvSpPr txBox="1"/>
          <p:nvPr>
            <p:custDataLst>
              <p:tags r:id="rId5"/>
            </p:custDataLst>
          </p:nvPr>
        </p:nvSpPr>
        <p:spPr>
          <a:xfrm>
            <a:off x="6583680" y="329184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Builds operator trust</a:t>
            </a:r>
            <a:endParaRPr lang="en-US" sz="1500" b="1" dirty="0">
              <a:solidFill>
                <a:srgbClr val="1B1F2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4" name="Text 8"/>
          <p:cNvSpPr txBox="1"/>
          <p:nvPr>
            <p:custDataLst>
              <p:tags r:id="rId6"/>
            </p:custDataLst>
          </p:nvPr>
        </p:nvSpPr>
        <p:spPr>
          <a:xfrm>
            <a:off x="6583680" y="365760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7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A QC operator can visually verify the model is looking at the actual defect, not an unrelated artifact.</a:t>
            </a:r>
            <a:endParaRPr lang="en-US" sz="1250" dirty="0">
              <a:solidFill>
                <a:srgbClr val="5C6B7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5" name="Shape 9"/>
          <p:cNvSpPr/>
          <p:nvPr>
            <p:custDataLst>
              <p:tags r:id="rId7"/>
            </p:custDataLst>
          </p:nvPr>
        </p:nvSpPr>
        <p:spPr>
          <a:xfrm>
            <a:off x="6309360" y="4572000"/>
            <a:ext cx="109728" cy="822960"/>
          </a:xfrm>
          <a:prstGeom prst="roundRect">
            <a:avLst>
              <a:gd name="adj" fmla="val 25000"/>
            </a:avLst>
          </a:prstGeom>
          <a:solidFill>
            <a:srgbClr val="065A82"/>
          </a:solidFill>
        </p:spPr>
      </p:sp>
      <p:sp>
        <p:nvSpPr>
          <p:cNvPr id="26" name="Text 10"/>
          <p:cNvSpPr txBox="1"/>
          <p:nvPr>
            <p:custDataLst>
              <p:tags r:id="rId8"/>
            </p:custDataLst>
          </p:nvPr>
        </p:nvSpPr>
        <p:spPr>
          <a:xfrm>
            <a:off x="6583680" y="452628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Runs on the trained model directly</a:t>
            </a:r>
            <a:endParaRPr lang="en-US" sz="1500" b="1" dirty="0">
              <a:solidFill>
                <a:srgbClr val="1B1F2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7" name="Text 11"/>
          <p:cNvSpPr txBox="1"/>
          <p:nvPr>
            <p:custDataLst>
              <p:tags r:id="rId9"/>
            </p:custDataLst>
          </p:nvPr>
        </p:nvSpPr>
        <p:spPr>
          <a:xfrm>
            <a:off x="6583680" y="489204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7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Computed via PyTorch alongside the ONNX/AI-Hub inference path — an explainability layer, not a replacement for it.</a:t>
            </a:r>
            <a:endParaRPr lang="en-US" sz="1250" dirty="0">
              <a:solidFill>
                <a:srgbClr val="5C6B7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1965960"/>
            <a:ext cx="5142230" cy="35064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WHAT'S NEXT</a:t>
            </a:r>
            <a:endParaRPr lang="en-US" sz="1600" b="1" kern="0" spc="200" dirty="0">
              <a:solidFill>
                <a:schemeClr val="tx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B1F2A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Roadmap</a:t>
            </a:r>
            <a:endParaRPr lang="en-US" sz="4400" b="1" dirty="0">
              <a:solidFill>
                <a:srgbClr val="1B1F2A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9" name="Shape 7"/>
          <p:cNvSpPr/>
          <p:nvPr>
            <p:custDataLst>
              <p:tags r:id="rId1"/>
            </p:custDataLst>
          </p:nvPr>
        </p:nvSpPr>
        <p:spPr>
          <a:xfrm>
            <a:off x="475615" y="1920240"/>
            <a:ext cx="51206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>
            <p:custDataLst>
              <p:tags r:id="rId2"/>
            </p:custDataLst>
          </p:nvPr>
        </p:nvSpPr>
        <p:spPr>
          <a:xfrm>
            <a:off x="749935" y="21945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65A82"/>
          </a:solidFill>
        </p:spPr>
      </p:sp>
      <p:sp>
        <p:nvSpPr>
          <p:cNvPr id="11" name="Text 9"/>
          <p:cNvSpPr txBox="1"/>
          <p:nvPr>
            <p:custDataLst>
              <p:tags r:id="rId3"/>
            </p:custDataLst>
          </p:nvPr>
        </p:nvSpPr>
        <p:spPr>
          <a:xfrm>
            <a:off x="749935" y="21945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IN" altLang="en-US" sz="1500" b="1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1</a:t>
            </a:r>
            <a:endParaRPr lang="en-IN" altLang="en-US" sz="1500" b="1" dirty="0">
              <a:solidFill>
                <a:srgbClr val="FFFFFF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2" name="Text 10"/>
          <p:cNvSpPr txBox="1"/>
          <p:nvPr>
            <p:custDataLst>
              <p:tags r:id="rId4"/>
            </p:custDataLst>
          </p:nvPr>
        </p:nvSpPr>
        <p:spPr>
          <a:xfrm>
            <a:off x="1344295" y="2148840"/>
            <a:ext cx="3977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Multi-product support</a:t>
            </a:r>
            <a:endParaRPr lang="en-US" sz="1400" b="1" dirty="0">
              <a:solidFill>
                <a:srgbClr val="1B1F2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3" name="Text 11"/>
          <p:cNvSpPr txBox="1"/>
          <p:nvPr>
            <p:custDataLst>
              <p:tags r:id="rId5"/>
            </p:custDataLst>
          </p:nvPr>
        </p:nvSpPr>
        <p:spPr>
          <a:xfrm>
            <a:off x="1344295" y="2514600"/>
            <a:ext cx="39776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7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Extend beyond bread to additional inspection domains (produce, packaging, components).</a:t>
            </a:r>
            <a:endParaRPr lang="en-US" sz="1200" dirty="0">
              <a:solidFill>
                <a:srgbClr val="5C6B7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4" name="Shape 12"/>
          <p:cNvSpPr/>
          <p:nvPr>
            <p:custDataLst>
              <p:tags r:id="rId6"/>
            </p:custDataLst>
          </p:nvPr>
        </p:nvSpPr>
        <p:spPr>
          <a:xfrm>
            <a:off x="6241415" y="1920240"/>
            <a:ext cx="51206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>
            <p:custDataLst>
              <p:tags r:id="rId7"/>
            </p:custDataLst>
          </p:nvPr>
        </p:nvSpPr>
        <p:spPr>
          <a:xfrm>
            <a:off x="6473825" y="21031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65A82"/>
          </a:solidFill>
        </p:spPr>
      </p:sp>
      <p:sp>
        <p:nvSpPr>
          <p:cNvPr id="16" name="Text 14"/>
          <p:cNvSpPr txBox="1"/>
          <p:nvPr>
            <p:custDataLst>
              <p:tags r:id="rId8"/>
            </p:custDataLst>
          </p:nvPr>
        </p:nvSpPr>
        <p:spPr>
          <a:xfrm>
            <a:off x="6473825" y="21031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IN" altLang="en-US" sz="1500" b="1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2</a:t>
            </a:r>
            <a:endParaRPr lang="en-IN" altLang="en-US" sz="1500" b="1" dirty="0">
              <a:solidFill>
                <a:srgbClr val="FFFFFF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7" name="Text 15"/>
          <p:cNvSpPr txBox="1"/>
          <p:nvPr>
            <p:custDataLst>
              <p:tags r:id="rId9"/>
            </p:custDataLst>
          </p:nvPr>
        </p:nvSpPr>
        <p:spPr>
          <a:xfrm>
            <a:off x="7068185" y="2057400"/>
            <a:ext cx="3977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Multi-class defects</a:t>
            </a:r>
            <a:endParaRPr lang="en-US" sz="1400" b="1" dirty="0">
              <a:solidFill>
                <a:srgbClr val="1B1F2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8" name="Text 16"/>
          <p:cNvSpPr txBox="1"/>
          <p:nvPr>
            <p:custDataLst>
              <p:tags r:id="rId10"/>
            </p:custDataLst>
          </p:nvPr>
        </p:nvSpPr>
        <p:spPr>
          <a:xfrm>
            <a:off x="7068185" y="2423160"/>
            <a:ext cx="39776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7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Move beyond good/bad to specific defect types — mold, staleness, physical damage.</a:t>
            </a:r>
            <a:endParaRPr lang="en-US" sz="1200" dirty="0">
              <a:solidFill>
                <a:srgbClr val="5C6B7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9" name="Shape 17"/>
          <p:cNvSpPr/>
          <p:nvPr>
            <p:custDataLst>
              <p:tags r:id="rId11"/>
            </p:custDataLst>
          </p:nvPr>
        </p:nvSpPr>
        <p:spPr>
          <a:xfrm>
            <a:off x="3319780" y="3806825"/>
            <a:ext cx="51206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>
            <p:custDataLst>
              <p:tags r:id="rId12"/>
            </p:custDataLst>
          </p:nvPr>
        </p:nvSpPr>
        <p:spPr>
          <a:xfrm>
            <a:off x="3594100" y="4081145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65A82"/>
          </a:solidFill>
        </p:spPr>
      </p:sp>
      <p:sp>
        <p:nvSpPr>
          <p:cNvPr id="21" name="Text 19"/>
          <p:cNvSpPr txBox="1"/>
          <p:nvPr>
            <p:custDataLst>
              <p:tags r:id="rId13"/>
            </p:custDataLst>
          </p:nvPr>
        </p:nvSpPr>
        <p:spPr>
          <a:xfrm>
            <a:off x="3594100" y="4081145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IN" altLang="en-US" sz="1500" b="1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3</a:t>
            </a:r>
            <a:endParaRPr lang="en-IN" altLang="en-US" sz="1500" b="1" dirty="0">
              <a:solidFill>
                <a:srgbClr val="FFFFFF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2" name="Text 20"/>
          <p:cNvSpPr txBox="1"/>
          <p:nvPr>
            <p:custDataLst>
              <p:tags r:id="rId14"/>
            </p:custDataLst>
          </p:nvPr>
        </p:nvSpPr>
        <p:spPr>
          <a:xfrm>
            <a:off x="4188460" y="4035425"/>
            <a:ext cx="3977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Fleet / multi-station rollout</a:t>
            </a:r>
            <a:endParaRPr lang="en-US" sz="1400" b="1" dirty="0">
              <a:solidFill>
                <a:srgbClr val="1B1F2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3" name="Text 21"/>
          <p:cNvSpPr txBox="1"/>
          <p:nvPr>
            <p:custDataLst>
              <p:tags r:id="rId15"/>
            </p:custDataLst>
          </p:nvPr>
        </p:nvSpPr>
        <p:spPr>
          <a:xfrm>
            <a:off x="4188460" y="4401185"/>
            <a:ext cx="39776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7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Central dashboard aggregating results across multiple inspection stations.</a:t>
            </a:r>
            <a:endParaRPr lang="en-US" sz="1200" dirty="0">
              <a:solidFill>
                <a:srgbClr val="5C6B7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2"/>
          <p:cNvSpPr txBox="1"/>
          <p:nvPr/>
        </p:nvSpPr>
        <p:spPr>
          <a:xfrm>
            <a:off x="548640" y="1859280"/>
            <a:ext cx="1085977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  <a:sym typeface="+mn-ea"/>
              </a:rPr>
              <a:t>SmartQC</a:t>
            </a:r>
            <a:r>
              <a:rPr lang="en-IN" altLang="en-US" sz="3200" b="1" dirty="0">
                <a:solidFill>
                  <a:srgbClr val="FFFFFF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  <a:sym typeface="+mn-ea"/>
              </a:rPr>
              <a:t>: </a:t>
            </a:r>
            <a:r>
              <a:rPr lang="en-US" altLang="en-GB" sz="3200" b="1" dirty="0">
                <a:solidFill>
                  <a:srgbClr val="FFFFFF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  <a:sym typeface="+mn-ea"/>
              </a:rPr>
              <a:t>On-Device Visual Quality Inspection</a:t>
            </a:r>
            <a:endParaRPr lang="en-US" altLang="en-GB" sz="3200" b="1" dirty="0">
              <a:solidFill>
                <a:srgbClr val="FFFFFF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9" name="Text 3"/>
          <p:cNvSpPr txBox="1"/>
          <p:nvPr/>
        </p:nvSpPr>
        <p:spPr>
          <a:xfrm>
            <a:off x="548640" y="25730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700" dirty="0">
              <a:solidFill>
                <a:srgbClr val="CADCFC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548640" y="881380"/>
            <a:ext cx="11444605" cy="7219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>
              <a:buNone/>
            </a:pPr>
            <a:endParaRPr lang="en-US" altLang="en-US" sz="2800" b="1" kern="0" spc="200" dirty="0">
              <a:solidFill>
                <a:schemeClr val="bg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1" name="Text 6"/>
          <p:cNvSpPr txBox="1"/>
          <p:nvPr/>
        </p:nvSpPr>
        <p:spPr>
          <a:xfrm>
            <a:off x="548640" y="3232150"/>
            <a:ext cx="10574655" cy="1827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Samay Thakur
</a:t>
            </a:r>
            <a:r>
              <a:rPr lang="en-US" sz="2000" dirty="0">
                <a:solidFill>
                  <a:srgbClr val="AFC4D6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Electronics &amp; Instrumentation Engineering</a:t>
            </a:r>
            <a:r>
              <a:rPr lang="en-IN" altLang="en-US" sz="2000" dirty="0">
                <a:solidFill>
                  <a:srgbClr val="AFC4D6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 | </a:t>
            </a:r>
            <a:r>
              <a:rPr lang="en-US" sz="2000" dirty="0">
                <a:solidFill>
                  <a:srgbClr val="AFC4D6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M.S. Ramaiah Institute of Technology, Bengaluru</a:t>
            </a:r>
            <a:r>
              <a:rPr lang="en-IN" altLang="en-US" sz="2000" dirty="0">
                <a:solidFill>
                  <a:srgbClr val="AFC4D6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, India</a:t>
            </a:r>
            <a:r>
              <a:rPr lang="en-US" sz="2000" dirty="0">
                <a:solidFill>
                  <a:srgbClr val="AFC4D6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
</a:t>
            </a:r>
            <a:r>
              <a:rPr lang="en-IN" altLang="en-US" sz="2000" dirty="0">
                <a:solidFill>
                  <a:srgbClr val="AFC4D6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hlinkClick r:id="rId1" action="ppaction://hlinkfile"/>
              </a:rPr>
              <a:t>Demo</a:t>
            </a:r>
            <a:r>
              <a:rPr lang="en-IN" altLang="en-US" sz="2000" dirty="0">
                <a:solidFill>
                  <a:srgbClr val="AFC4D6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 | </a:t>
            </a:r>
            <a:r>
              <a:rPr lang="en-IN" altLang="en-US" sz="2000" dirty="0">
                <a:solidFill>
                  <a:srgbClr val="AFC4D6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  <a:hlinkClick r:id="rId2" action="ppaction://hlinkfile"/>
              </a:rPr>
              <a:t>GitHub</a:t>
            </a:r>
            <a:r>
              <a:rPr lang="en-US" sz="2000" dirty="0">
                <a:solidFill>
                  <a:srgbClr val="AFC4D6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  <a:hlinkClick r:id="rId2" action="ppaction://hlinkfile"/>
              </a:rPr>
              <a:t> </a:t>
            </a:r>
            <a:r>
              <a:rPr lang="en-US" sz="2000" dirty="0">
                <a:solidFill>
                  <a:srgbClr val="AFC4D6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 |  </a:t>
            </a:r>
            <a:r>
              <a:rPr lang="en-IN" altLang="en-US" sz="2000" dirty="0">
                <a:solidFill>
                  <a:srgbClr val="AFC4D6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  <a:hlinkClick r:id="rId3" action="ppaction://hlinkfile"/>
              </a:rPr>
              <a:t>LinkedIn</a:t>
            </a:r>
            <a:r>
              <a:rPr lang="en-IN" altLang="en-US" sz="2000" dirty="0">
                <a:solidFill>
                  <a:srgbClr val="AFC4D6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 </a:t>
            </a:r>
            <a:endParaRPr lang="en-IN" altLang="en-US" sz="2000" dirty="0">
              <a:solidFill>
                <a:srgbClr val="AFC4D6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  <a:p>
            <a:pPr marL="0" indent="0">
              <a:lnSpc>
                <a:spcPct val="130000"/>
              </a:lnSpc>
              <a:buNone/>
            </a:pPr>
            <a:endParaRPr lang="en-IN" altLang="en-US" sz="2000" dirty="0">
              <a:solidFill>
                <a:srgbClr val="AFC4D6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3626485" y="5170170"/>
            <a:ext cx="4052570" cy="11709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ctr">
              <a:lnSpc>
                <a:spcPct val="130000"/>
              </a:lnSpc>
              <a:buNone/>
            </a:pPr>
            <a:r>
              <a:rPr lang="en-IN" altLang="en-US" sz="5400" b="1" dirty="0">
                <a:solidFill>
                  <a:srgbClr val="AFC4D6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Thank You</a:t>
            </a:r>
            <a:endParaRPr lang="en-IN" altLang="en-US" sz="5400" b="1" dirty="0">
              <a:solidFill>
                <a:srgbClr val="AFC4D6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2" name="Text 2"/>
          <p:cNvSpPr txBox="1"/>
          <p:nvPr/>
        </p:nvSpPr>
        <p:spPr>
          <a:xfrm>
            <a:off x="1489710" y="815975"/>
            <a:ext cx="10389870" cy="837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en-GB" sz="2000" b="1" kern="0" spc="200" dirty="0">
                <a:solidFill>
                  <a:schemeClr val="bg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QUALCOMM | SNAPDRAGON</a:t>
            </a:r>
            <a:r>
              <a:rPr lang="en-US" altLang="en-US" sz="2000" b="1" kern="0" spc="200" dirty="0">
                <a:solidFill>
                  <a:schemeClr val="bg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®</a:t>
            </a:r>
            <a:r>
              <a:rPr lang="en-US" altLang="en-GB" sz="2000" b="1" kern="0" spc="200" dirty="0">
                <a:solidFill>
                  <a:schemeClr val="bg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 AI LAB BUILD &amp; PRESENT CHALLENGE</a:t>
            </a:r>
            <a:endParaRPr lang="en-US" altLang="en-GB" sz="2000" b="1" kern="0" spc="200" dirty="0">
              <a:solidFill>
                <a:schemeClr val="bg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" name="Text 4"/>
          <p:cNvSpPr txBox="1"/>
          <p:nvPr/>
        </p:nvSpPr>
        <p:spPr>
          <a:xfrm>
            <a:off x="548640" y="2481580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altLang="en-US" sz="2000" dirty="0">
                <a:solidFill>
                  <a:srgbClr val="CADCF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O</a:t>
            </a:r>
            <a:r>
              <a:rPr lang="en-US" sz="2000" dirty="0">
                <a:solidFill>
                  <a:srgbClr val="CADCF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ptimized for Snapdragon</a:t>
            </a:r>
            <a:endParaRPr lang="en-US" sz="2000" dirty="0">
              <a:solidFill>
                <a:srgbClr val="CADCFC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pic>
        <p:nvPicPr>
          <p:cNvPr id="5" name="Picture 4" descr="uploadedManual-6a9e5fdf993af_fireball_logo-Photoroo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030" y="609600"/>
            <a:ext cx="1249680" cy="124968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70,&quot;left&quot;:-79.55,&quot;top&quot;:154.8,&quot;width&quot;:867.95}"/>
</p:tagLst>
</file>

<file path=ppt/tags/tag2.xml><?xml version="1.0" encoding="utf-8"?>
<p:tagLst xmlns:p="http://schemas.openxmlformats.org/presentationml/2006/main">
  <p:tag name="KSO_WM_DIAGRAM_VIRTUALLY_FRAME" val="{&quot;height&quot;:270,&quot;left&quot;:-79.55,&quot;top&quot;:154.8,&quot;width&quot;:867.95}"/>
</p:tagLst>
</file>

<file path=ppt/tags/tag3.xml><?xml version="1.0" encoding="utf-8"?>
<p:tagLst xmlns:p="http://schemas.openxmlformats.org/presentationml/2006/main">
  <p:tag name="KSO_WM_DIAGRAM_VIRTUALLY_FRAME" val="{&quot;height&quot;:270,&quot;left&quot;:-79.55,&quot;top&quot;:154.8,&quot;width&quot;:867.95}"/>
</p:tagLst>
</file>

<file path=ppt/tags/tag4.xml><?xml version="1.0" encoding="utf-8"?>
<p:tagLst xmlns:p="http://schemas.openxmlformats.org/presentationml/2006/main">
  <p:tag name="KSO_WM_DIAGRAM_VIRTUALLY_FRAME" val="{&quot;height&quot;:270,&quot;left&quot;:-79.55,&quot;top&quot;:154.8,&quot;width&quot;:867.95}"/>
</p:tagLst>
</file>

<file path=ppt/tags/tag5.xml><?xml version="1.0" encoding="utf-8"?>
<p:tagLst xmlns:p="http://schemas.openxmlformats.org/presentationml/2006/main">
  <p:tag name="KSO_WM_DIAGRAM_VIRTUALLY_FRAME" val="{&quot;height&quot;:270,&quot;left&quot;:-79.55,&quot;top&quot;:154.8,&quot;width&quot;:867.95}"/>
</p:tagLst>
</file>

<file path=ppt/tags/tag6.xml><?xml version="1.0" encoding="utf-8"?>
<p:tagLst xmlns:p="http://schemas.openxmlformats.org/presentationml/2006/main">
  <p:tag name="KSO_WM_DIAGRAM_VIRTUALLY_FRAME" val="{&quot;height&quot;:270,&quot;left&quot;:-79.55,&quot;top&quot;:154.8,&quot;width&quot;:867.95}"/>
</p:tagLst>
</file>

<file path=ppt/tags/tag7.xml><?xml version="1.0" encoding="utf-8"?>
<p:tagLst xmlns:p="http://schemas.openxmlformats.org/presentationml/2006/main">
  <p:tag name="KSO_WM_DIAGRAM_VIRTUALLY_FRAME" val="{&quot;height&quot;:270,&quot;left&quot;:-79.55,&quot;top&quot;:154.8,&quot;width&quot;:867.95}"/>
</p:tagLst>
</file>

<file path=ppt/tags/tag8.xml><?xml version="1.0" encoding="utf-8"?>
<p:tagLst xmlns:p="http://schemas.openxmlformats.org/presentationml/2006/main">
  <p:tag name="KSO_WM_DIAGRAM_VIRTUALLY_FRAME" val="{&quot;height&quot;:270,&quot;left&quot;:-79.55,&quot;top&quot;:154.8,&quot;width&quot;:867.95}"/>
</p:tagLst>
</file>

<file path=ppt/tags/tag9.xml><?xml version="1.0" encoding="utf-8"?>
<p:tagLst xmlns:p="http://schemas.openxmlformats.org/presentationml/2006/main">
  <p:tag name="KSO_WM_DIAGRAM_VIRTUALLY_FRAME" val="{&quot;height&quot;:270,&quot;left&quot;:43.2,&quot;top&quot;:154.8,&quot;width&quot;:745.2}"/>
</p:tagLst>
</file>

<file path=ppt/tags/tag10.xml><?xml version="1.0" encoding="utf-8"?>
<p:tagLst xmlns:p="http://schemas.openxmlformats.org/presentationml/2006/main">
  <p:tag name="KSO_WM_DIAGRAM_VIRTUALLY_FRAME" val="{&quot;height&quot;:270,&quot;left&quot;:-79.55,&quot;top&quot;:154.8,&quot;width&quot;:867.95}"/>
</p:tagLst>
</file>

<file path=ppt/tags/tag11.xml><?xml version="1.0" encoding="utf-8"?>
<p:tagLst xmlns:p="http://schemas.openxmlformats.org/presentationml/2006/main">
  <p:tag name="KSO_WM_DIAGRAM_VIRTUALLY_FRAME" val="{&quot;height&quot;:270,&quot;left&quot;:-79.55,&quot;top&quot;:154.8,&quot;width&quot;:867.95}"/>
</p:tagLst>
</file>

<file path=ppt/tags/tag12.xml><?xml version="1.0" encoding="utf-8"?>
<p:tagLst xmlns:p="http://schemas.openxmlformats.org/presentationml/2006/main">
  <p:tag name="KSO_WM_DIAGRAM_VIRTUALLY_FRAME" val="{&quot;height&quot;:270,&quot;left&quot;:-79.55,&quot;top&quot;:154.8,&quot;width&quot;:867.95}"/>
</p:tagLst>
</file>

<file path=ppt/tags/tag13.xml><?xml version="1.0" encoding="utf-8"?>
<p:tagLst xmlns:p="http://schemas.openxmlformats.org/presentationml/2006/main">
  <p:tag name="KSO_WM_DIAGRAM_VIRTUALLY_FRAME" val="{&quot;height&quot;:270,&quot;left&quot;:-79.55,&quot;top&quot;:154.8,&quot;width&quot;:867.95}"/>
</p:tagLst>
</file>

<file path=ppt/tags/tag14.xml><?xml version="1.0" encoding="utf-8"?>
<p:tagLst xmlns:p="http://schemas.openxmlformats.org/presentationml/2006/main">
  <p:tag name="KSO_WM_DIAGRAM_VIRTUALLY_FRAME" val="{&quot;height&quot;:334.8,&quot;left&quot;:43.2,&quot;top&quot;:151.2,&quot;width&quot;:403.2}"/>
</p:tagLst>
</file>

<file path=ppt/tags/tag15.xml><?xml version="1.0" encoding="utf-8"?>
<p:tagLst xmlns:p="http://schemas.openxmlformats.org/presentationml/2006/main">
  <p:tag name="KSO_WM_DIAGRAM_VIRTUALLY_FRAME" val="{&quot;height&quot;:334.8,&quot;left&quot;:43.2,&quot;top&quot;:151.2,&quot;width&quot;:403.2}"/>
</p:tagLst>
</file>

<file path=ppt/tags/tag16.xml><?xml version="1.0" encoding="utf-8"?>
<p:tagLst xmlns:p="http://schemas.openxmlformats.org/presentationml/2006/main">
  <p:tag name="KSO_WM_DIAGRAM_VIRTUALLY_FRAME" val="{&quot;height&quot;:334.8,&quot;left&quot;:43.2,&quot;top&quot;:151.2,&quot;width&quot;:403.2}"/>
</p:tagLst>
</file>

<file path=ppt/tags/tag17.xml><?xml version="1.0" encoding="utf-8"?>
<p:tagLst xmlns:p="http://schemas.openxmlformats.org/presentationml/2006/main">
  <p:tag name="KSO_WM_DIAGRAM_VIRTUALLY_FRAME" val="{&quot;height&quot;:334.8,&quot;left&quot;:43.2,&quot;top&quot;:151.2,&quot;width&quot;:403.2}"/>
</p:tagLst>
</file>

<file path=ppt/tags/tag18.xml><?xml version="1.0" encoding="utf-8"?>
<p:tagLst xmlns:p="http://schemas.openxmlformats.org/presentationml/2006/main">
  <p:tag name="KSO_WM_DIAGRAM_VIRTUALLY_FRAME" val="{&quot;height&quot;:334.8,&quot;left&quot;:43.2,&quot;top&quot;:151.2,&quot;width&quot;:403.2}"/>
</p:tagLst>
</file>

<file path=ppt/tags/tag19.xml><?xml version="1.0" encoding="utf-8"?>
<p:tagLst xmlns:p="http://schemas.openxmlformats.org/presentationml/2006/main">
  <p:tag name="KSO_WM_DIAGRAM_VIRTUALLY_FRAME" val="{&quot;height&quot;:334.8,&quot;left&quot;:43.2,&quot;top&quot;:151.2,&quot;width&quot;:403.2}"/>
</p:tagLst>
</file>

<file path=ppt/tags/tag20.xml><?xml version="1.0" encoding="utf-8"?>
<p:tagLst xmlns:p="http://schemas.openxmlformats.org/presentationml/2006/main">
  <p:tag name="KSO_WM_DIAGRAM_VIRTUALLY_FRAME" val="{&quot;height&quot;:334.8,&quot;left&quot;:43.2,&quot;top&quot;:151.2,&quot;width&quot;:403.2}"/>
</p:tagLst>
</file>

<file path=ppt/tags/tag21.xml><?xml version="1.0" encoding="utf-8"?>
<p:tagLst xmlns:p="http://schemas.openxmlformats.org/presentationml/2006/main">
  <p:tag name="KSO_WM_DIAGRAM_VIRTUALLY_FRAME" val="{&quot;height&quot;:224.8,&quot;left&quot;:432,&quot;top&quot;:176,&quot;width&quot;:846}"/>
</p:tagLst>
</file>

<file path=ppt/tags/tag22.xml><?xml version="1.0" encoding="utf-8"?>
<p:tagLst xmlns:p="http://schemas.openxmlformats.org/presentationml/2006/main">
  <p:tag name="KSO_WM_DIAGRAM_VIRTUALLY_FRAME" val="{&quot;height&quot;:224.8,&quot;left&quot;:432,&quot;top&quot;:176,&quot;width&quot;:846}"/>
</p:tagLst>
</file>

<file path=ppt/tags/tag23.xml><?xml version="1.0" encoding="utf-8"?>
<p:tagLst xmlns:p="http://schemas.openxmlformats.org/presentationml/2006/main">
  <p:tag name="KSO_WM_DIAGRAM_VIRTUALLY_FRAME" val="{&quot;height&quot;:224.8,&quot;left&quot;:432,&quot;top&quot;:176,&quot;width&quot;:846}"/>
</p:tagLst>
</file>

<file path=ppt/tags/tag24.xml><?xml version="1.0" encoding="utf-8"?>
<p:tagLst xmlns:p="http://schemas.openxmlformats.org/presentationml/2006/main">
  <p:tag name="KSO_WM_DIAGRAM_VIRTUALLY_FRAME" val="{&quot;height&quot;:224.8,&quot;left&quot;:432,&quot;top&quot;:176,&quot;width&quot;:846}"/>
</p:tagLst>
</file>

<file path=ppt/tags/tag25.xml><?xml version="1.0" encoding="utf-8"?>
<p:tagLst xmlns:p="http://schemas.openxmlformats.org/presentationml/2006/main">
  <p:tag name="KSO_WM_DIAGRAM_VIRTUALLY_FRAME" val="{&quot;height&quot;:224.8,&quot;left&quot;:432,&quot;top&quot;:176,&quot;width&quot;:846}"/>
</p:tagLst>
</file>

<file path=ppt/tags/tag26.xml><?xml version="1.0" encoding="utf-8"?>
<p:tagLst xmlns:p="http://schemas.openxmlformats.org/presentationml/2006/main">
  <p:tag name="KSO_WM_DIAGRAM_VIRTUALLY_FRAME" val="{&quot;height&quot;:224.8,&quot;left&quot;:432,&quot;top&quot;:176,&quot;width&quot;:846}"/>
</p:tagLst>
</file>

<file path=ppt/tags/tag27.xml><?xml version="1.0" encoding="utf-8"?>
<p:tagLst xmlns:p="http://schemas.openxmlformats.org/presentationml/2006/main">
  <p:tag name="KSO_WM_DIAGRAM_VIRTUALLY_FRAME" val="{&quot;height&quot;:224.8,&quot;left&quot;:432,&quot;top&quot;:176,&quot;width&quot;:846}"/>
</p:tagLst>
</file>

<file path=ppt/tags/tag28.xml><?xml version="1.0" encoding="utf-8"?>
<p:tagLst xmlns:p="http://schemas.openxmlformats.org/presentationml/2006/main">
  <p:tag name="KSO_WM_DIAGRAM_VIRTUALLY_FRAME" val="{&quot;height&quot;:224.8,&quot;left&quot;:432,&quot;top&quot;:176,&quot;width&quot;:846}"/>
</p:tagLst>
</file>

<file path=ppt/tags/tag29.xml><?xml version="1.0" encoding="utf-8"?>
<p:tagLst xmlns:p="http://schemas.openxmlformats.org/presentationml/2006/main">
  <p:tag name="KSO_WM_DIAGRAM_VIRTUALLY_FRAME" val="{&quot;height&quot;:224.8,&quot;left&quot;:432,&quot;top&quot;:176,&quot;width&quot;:846}"/>
</p:tagLst>
</file>

<file path=ppt/tags/tag30.xml><?xml version="1.0" encoding="utf-8"?>
<p:tagLst xmlns:p="http://schemas.openxmlformats.org/presentationml/2006/main">
  <p:tag name="KSO_WM_DIAGRAM_VIRTUALLY_FRAME" val="{&quot;height&quot;:224.8,&quot;left&quot;:432,&quot;top&quot;:176,&quot;width&quot;:846}"/>
</p:tagLst>
</file>

<file path=ppt/tags/tag31.xml><?xml version="1.0" encoding="utf-8"?>
<p:tagLst xmlns:p="http://schemas.openxmlformats.org/presentationml/2006/main">
  <p:tag name="KSO_WM_DIAGRAM_VIRTUALLY_FRAME" val="{&quot;height&quot;:224.8,&quot;left&quot;:432,&quot;top&quot;:176,&quot;width&quot;:846}"/>
</p:tagLst>
</file>

<file path=ppt/tags/tag32.xml><?xml version="1.0" encoding="utf-8"?>
<p:tagLst xmlns:p="http://schemas.openxmlformats.org/presentationml/2006/main">
  <p:tag name="KSO_WM_DIAGRAM_VIRTUALLY_FRAME" val="{&quot;height&quot;:224.8,&quot;left&quot;:432,&quot;top&quot;:176,&quot;width&quot;:846}"/>
</p:tagLst>
</file>

<file path=ppt/tags/tag33.xml><?xml version="1.0" encoding="utf-8"?>
<p:tagLst xmlns:p="http://schemas.openxmlformats.org/presentationml/2006/main">
  <p:tag name="KSO_WM_DIAGRAM_VIRTUALLY_FRAME" val="{&quot;height&quot;:266.4,&quot;left&quot;:496.8,&quot;top&quot;:162,&quot;width&quot;:403.2}"/>
</p:tagLst>
</file>

<file path=ppt/tags/tag34.xml><?xml version="1.0" encoding="utf-8"?>
<p:tagLst xmlns:p="http://schemas.openxmlformats.org/presentationml/2006/main">
  <p:tag name="KSO_WM_DIAGRAM_VIRTUALLY_FRAME" val="{&quot;height&quot;:266.4,&quot;left&quot;:496.8,&quot;top&quot;:162,&quot;width&quot;:403.2}"/>
</p:tagLst>
</file>

<file path=ppt/tags/tag35.xml><?xml version="1.0" encoding="utf-8"?>
<p:tagLst xmlns:p="http://schemas.openxmlformats.org/presentationml/2006/main">
  <p:tag name="KSO_WM_DIAGRAM_VIRTUALLY_FRAME" val="{&quot;height&quot;:266.4,&quot;left&quot;:496.8,&quot;top&quot;:162,&quot;width&quot;:403.2}"/>
</p:tagLst>
</file>

<file path=ppt/tags/tag36.xml><?xml version="1.0" encoding="utf-8"?>
<p:tagLst xmlns:p="http://schemas.openxmlformats.org/presentationml/2006/main">
  <p:tag name="KSO_WM_DIAGRAM_VIRTUALLY_FRAME" val="{&quot;height&quot;:266.4,&quot;left&quot;:496.8,&quot;top&quot;:162,&quot;width&quot;:403.2}"/>
</p:tagLst>
</file>

<file path=ppt/tags/tag37.xml><?xml version="1.0" encoding="utf-8"?>
<p:tagLst xmlns:p="http://schemas.openxmlformats.org/presentationml/2006/main">
  <p:tag name="KSO_WM_DIAGRAM_VIRTUALLY_FRAME" val="{&quot;height&quot;:266.4,&quot;left&quot;:496.8,&quot;top&quot;:162,&quot;width&quot;:403.2}"/>
</p:tagLst>
</file>

<file path=ppt/tags/tag38.xml><?xml version="1.0" encoding="utf-8"?>
<p:tagLst xmlns:p="http://schemas.openxmlformats.org/presentationml/2006/main">
  <p:tag name="KSO_WM_DIAGRAM_VIRTUALLY_FRAME" val="{&quot;height&quot;:266.4,&quot;left&quot;:496.8,&quot;top&quot;:162,&quot;width&quot;:403.2}"/>
</p:tagLst>
</file>

<file path=ppt/tags/tag39.xml><?xml version="1.0" encoding="utf-8"?>
<p:tagLst xmlns:p="http://schemas.openxmlformats.org/presentationml/2006/main">
  <p:tag name="KSO_WM_DIAGRAM_VIRTUALLY_FRAME" val="{&quot;height&quot;:266.4,&quot;left&quot;:496.8,&quot;top&quot;:162,&quot;width&quot;:403.2}"/>
</p:tagLst>
</file>

<file path=ppt/tags/tag40.xml><?xml version="1.0" encoding="utf-8"?>
<p:tagLst xmlns:p="http://schemas.openxmlformats.org/presentationml/2006/main">
  <p:tag name="KSO_WM_DIAGRAM_VIRTUALLY_FRAME" val="{&quot;height&quot;:266.4,&quot;left&quot;:496.8,&quot;top&quot;:162,&quot;width&quot;:403.2}"/>
</p:tagLst>
</file>

<file path=ppt/tags/tag41.xml><?xml version="1.0" encoding="utf-8"?>
<p:tagLst xmlns:p="http://schemas.openxmlformats.org/presentationml/2006/main">
  <p:tag name="KSO_WM_DIAGRAM_VIRTUALLY_FRAME" val="{&quot;height&quot;:266.4,&quot;left&quot;:496.8,&quot;top&quot;:162,&quot;width&quot;:403.2}"/>
</p:tagLst>
</file>

<file path=ppt/tags/tag42.xml><?xml version="1.0" encoding="utf-8"?>
<p:tagLst xmlns:p="http://schemas.openxmlformats.org/presentationml/2006/main">
  <p:tag name="KSO_WM_DIAGRAM_VIRTUALLY_FRAME" val="{&quot;height&quot;:270.95,&quot;left&quot;:37.45,&quot;top&quot;:144,&quot;width&quot;:857.2}"/>
</p:tagLst>
</file>

<file path=ppt/tags/tag43.xml><?xml version="1.0" encoding="utf-8"?>
<p:tagLst xmlns:p="http://schemas.openxmlformats.org/presentationml/2006/main">
  <p:tag name="KSO_WM_DIAGRAM_VIRTUALLY_FRAME" val="{&quot;height&quot;:270.95,&quot;left&quot;:37.45,&quot;top&quot;:144,&quot;width&quot;:857.2}"/>
</p:tagLst>
</file>

<file path=ppt/tags/tag44.xml><?xml version="1.0" encoding="utf-8"?>
<p:tagLst xmlns:p="http://schemas.openxmlformats.org/presentationml/2006/main">
  <p:tag name="KSO_WM_DIAGRAM_VIRTUALLY_FRAME" val="{&quot;height&quot;:270.95,&quot;left&quot;:37.45,&quot;top&quot;:144,&quot;width&quot;:857.2}"/>
</p:tagLst>
</file>

<file path=ppt/tags/tag45.xml><?xml version="1.0" encoding="utf-8"?>
<p:tagLst xmlns:p="http://schemas.openxmlformats.org/presentationml/2006/main">
  <p:tag name="KSO_WM_DIAGRAM_VIRTUALLY_FRAME" val="{&quot;height&quot;:270.95,&quot;left&quot;:37.45,&quot;top&quot;:144,&quot;width&quot;:857.2}"/>
</p:tagLst>
</file>

<file path=ppt/tags/tag46.xml><?xml version="1.0" encoding="utf-8"?>
<p:tagLst xmlns:p="http://schemas.openxmlformats.org/presentationml/2006/main">
  <p:tag name="KSO_WM_DIAGRAM_VIRTUALLY_FRAME" val="{&quot;height&quot;:270.95,&quot;left&quot;:37.45,&quot;top&quot;:144,&quot;width&quot;:857.2}"/>
</p:tagLst>
</file>

<file path=ppt/tags/tag47.xml><?xml version="1.0" encoding="utf-8"?>
<p:tagLst xmlns:p="http://schemas.openxmlformats.org/presentationml/2006/main">
  <p:tag name="KSO_WM_DIAGRAM_VIRTUALLY_FRAME" val="{&quot;height&quot;:270.95,&quot;left&quot;:37.45,&quot;top&quot;:144,&quot;width&quot;:857.2}"/>
</p:tagLst>
</file>

<file path=ppt/tags/tag48.xml><?xml version="1.0" encoding="utf-8"?>
<p:tagLst xmlns:p="http://schemas.openxmlformats.org/presentationml/2006/main">
  <p:tag name="KSO_WM_DIAGRAM_VIRTUALLY_FRAME" val="{&quot;height&quot;:270.95,&quot;left&quot;:37.45,&quot;top&quot;:144,&quot;width&quot;:857.2}"/>
</p:tagLst>
</file>

<file path=ppt/tags/tag49.xml><?xml version="1.0" encoding="utf-8"?>
<p:tagLst xmlns:p="http://schemas.openxmlformats.org/presentationml/2006/main">
  <p:tag name="KSO_WM_DIAGRAM_VIRTUALLY_FRAME" val="{&quot;height&quot;:270.95,&quot;left&quot;:37.45,&quot;top&quot;:144,&quot;width&quot;:857.2}"/>
</p:tagLst>
</file>

<file path=ppt/tags/tag50.xml><?xml version="1.0" encoding="utf-8"?>
<p:tagLst xmlns:p="http://schemas.openxmlformats.org/presentationml/2006/main">
  <p:tag name="KSO_WM_DIAGRAM_VIRTUALLY_FRAME" val="{&quot;height&quot;:270.95,&quot;left&quot;:37.45,&quot;top&quot;:144,&quot;width&quot;:857.2}"/>
</p:tagLst>
</file>

<file path=ppt/tags/tag51.xml><?xml version="1.0" encoding="utf-8"?>
<p:tagLst xmlns:p="http://schemas.openxmlformats.org/presentationml/2006/main">
  <p:tag name="KSO_WM_DIAGRAM_VIRTUALLY_FRAME" val="{&quot;height&quot;:270.95,&quot;left&quot;:37.45,&quot;top&quot;:144,&quot;width&quot;:857.2}"/>
</p:tagLst>
</file>

<file path=ppt/tags/tag52.xml><?xml version="1.0" encoding="utf-8"?>
<p:tagLst xmlns:p="http://schemas.openxmlformats.org/presentationml/2006/main">
  <p:tag name="KSO_WM_DIAGRAM_VIRTUALLY_FRAME" val="{&quot;height&quot;:270.95,&quot;left&quot;:37.45,&quot;top&quot;:144,&quot;width&quot;:857.2}"/>
</p:tagLst>
</file>

<file path=ppt/tags/tag53.xml><?xml version="1.0" encoding="utf-8"?>
<p:tagLst xmlns:p="http://schemas.openxmlformats.org/presentationml/2006/main">
  <p:tag name="KSO_WM_DIAGRAM_VIRTUALLY_FRAME" val="{&quot;height&quot;:270.95,&quot;left&quot;:37.45,&quot;top&quot;:144,&quot;width&quot;:857.2}"/>
</p:tagLst>
</file>

<file path=ppt/tags/tag54.xml><?xml version="1.0" encoding="utf-8"?>
<p:tagLst xmlns:p="http://schemas.openxmlformats.org/presentationml/2006/main">
  <p:tag name="KSO_WM_DIAGRAM_VIRTUALLY_FRAME" val="{&quot;height&quot;:270.95,&quot;left&quot;:37.45,&quot;top&quot;:144,&quot;width&quot;:857.2}"/>
</p:tagLst>
</file>

<file path=ppt/tags/tag55.xml><?xml version="1.0" encoding="utf-8"?>
<p:tagLst xmlns:p="http://schemas.openxmlformats.org/presentationml/2006/main">
  <p:tag name="KSO_WM_DIAGRAM_VIRTUALLY_FRAME" val="{&quot;height&quot;:270.95,&quot;left&quot;:37.45,&quot;top&quot;:144,&quot;width&quot;:857.2}"/>
</p:tagLst>
</file>

<file path=ppt/tags/tag56.xml><?xml version="1.0" encoding="utf-8"?>
<p:tagLst xmlns:p="http://schemas.openxmlformats.org/presentationml/2006/main">
  <p:tag name="KSO_WM_DIAGRAM_VIRTUALLY_FRAME" val="{&quot;height&quot;:270.95,&quot;left&quot;:37.45,&quot;top&quot;:144,&quot;width&quot;:857.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4592</Words>
  <Application>WPS Presentation</Application>
  <PresentationFormat>On-screen Show (16:9)</PresentationFormat>
  <Paragraphs>237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Arial</vt:lpstr>
      <vt:lpstr>SimSun</vt:lpstr>
      <vt:lpstr>Wingdings</vt:lpstr>
      <vt:lpstr>Times New Roman</vt:lpstr>
      <vt:lpstr>Calibri</vt:lpstr>
      <vt:lpstr>Cambria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Samay Thakur</cp:lastModifiedBy>
  <cp:revision>18</cp:revision>
  <dcterms:created xsi:type="dcterms:W3CDTF">2026-09-20T15:25:00Z</dcterms:created>
  <dcterms:modified xsi:type="dcterms:W3CDTF">2026-09-21T13:42:47Z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9A7C2F0498644AC7A7AF5A5884962D3B_12</vt:lpwstr>
  </property>
  <property fmtid="{D5CDD505-2E9C-101B-9397-08002B2CF9AE}" pid="3" name="KSOProductBuildVer">
    <vt:lpwstr>2057-12.2.0.23206</vt:lpwstr>
  </property>
</Properties>
</file>