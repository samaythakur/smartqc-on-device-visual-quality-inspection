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linkedin.com/in/samaythakur/" TargetMode="External"/><Relationship Id="rId1" Type="http://schemas.openxmlformats.org/officeDocument/2006/relationships/hyperlink" Target="https://github.com/samaythakur/smartqc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7.png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linkedin.com/in/samaythakur/" TargetMode="External"/><Relationship Id="rId1" Type="http://schemas.openxmlformats.org/officeDocument/2006/relationships/hyperlink" Target="https://github.com/samaythakur/smartq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2"/>
          <p:cNvSpPr txBox="1"/>
          <p:nvPr/>
        </p:nvSpPr>
        <p:spPr>
          <a:xfrm>
            <a:off x="548640" y="969645"/>
            <a:ext cx="9646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SNAPDRAGON® AI LAB BUILD &amp; PRESENT CHALLENGE</a:t>
            </a:r>
            <a:endParaRPr lang="en-US" sz="2800" b="1" kern="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3"/>
          <p:cNvSpPr txBox="1"/>
          <p:nvPr/>
        </p:nvSpPr>
        <p:spPr>
          <a:xfrm>
            <a:off x="548640" y="2069465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SmartQC</a:t>
            </a:r>
            <a:endParaRPr lang="en-US" sz="66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1" name="Text 4"/>
          <p:cNvSpPr txBox="1"/>
          <p:nvPr/>
        </p:nvSpPr>
        <p:spPr>
          <a:xfrm>
            <a:off x="548640" y="319659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On-device visual quality inspection, built and optimized for Snapdragon.</a:t>
            </a:r>
            <a:endParaRPr lang="en-US" sz="20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548640" y="4297680"/>
            <a:ext cx="10574655" cy="1827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Samay Thakur
</a:t>
            </a:r>
            <a:r>
              <a:rPr 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 &amp; Instrumentation Engineering, M.S. Ramaiah Institute of Technology, Bengaluru
</a:t>
            </a:r>
            <a:r>
              <a:rPr lang="en-IN" alt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action="ppaction://hlinkfile"/>
              </a:rPr>
              <a:t>GitHub</a:t>
            </a:r>
            <a:r>
              <a:rPr 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 action="ppaction://hlinkfile"/>
              </a:rPr>
              <a:t> </a:t>
            </a:r>
            <a:r>
              <a:rPr 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 </a:t>
            </a:r>
            <a:r>
              <a:rPr lang="en-IN" alt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 action="ppaction://hlinkfile"/>
              </a:rPr>
              <a:t>Linkedin</a:t>
            </a:r>
            <a:endParaRPr lang="en-IN" altLang="en-US" sz="2000" dirty="0">
              <a:solidFill>
                <a:srgbClr val="AFC4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3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Quality inspection is slow, inconsistent, or expensive</a:t>
            </a:r>
            <a:endParaRPr lang="en-US" sz="3200" dirty="0"/>
          </a:p>
        </p:txBody>
      </p:sp>
      <p:sp>
        <p:nvSpPr>
          <p:cNvPr id="20" name="Shape 2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</p:spPr>
      </p:sp>
      <p:sp>
        <p:nvSpPr>
          <p:cNvPr id="21" name="Text 3"/>
          <p:cNvSpPr txBox="1"/>
          <p:nvPr>
            <p:custDataLst>
              <p:tags r:id="rId2"/>
            </p:custDataLst>
          </p:nvPr>
        </p:nvSpPr>
        <p:spPr>
          <a:xfrm>
            <a:off x="54864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4"/>
          <p:cNvSpPr txBox="1"/>
          <p:nvPr>
            <p:custDataLst>
              <p:tags r:id="rId3"/>
            </p:custDataLst>
          </p:nvPr>
        </p:nvSpPr>
        <p:spPr>
          <a:xfrm>
            <a:off x="13258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inspection</a:t>
            </a:r>
            <a:endParaRPr lang="en-US" sz="1600" dirty="0"/>
          </a:p>
        </p:txBody>
      </p:sp>
      <p:sp>
        <p:nvSpPr>
          <p:cNvPr id="23" name="Text 5"/>
          <p:cNvSpPr txBox="1"/>
          <p:nvPr>
            <p:custDataLst>
              <p:tags r:id="rId4"/>
            </p:custDataLst>
          </p:nvPr>
        </p:nvSpPr>
        <p:spPr>
          <a:xfrm>
            <a:off x="1325880" y="233172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Depends on human attention span — fatigue and inconsistency creep in over a shift.</a:t>
            </a:r>
            <a:endParaRPr lang="en-US" sz="1300" dirty="0"/>
          </a:p>
        </p:txBody>
      </p:sp>
      <p:sp>
        <p:nvSpPr>
          <p:cNvPr id="24" name="Shape 6"/>
          <p:cNvSpPr/>
          <p:nvPr>
            <p:custDataLst>
              <p:tags r:id="rId5"/>
            </p:custDataLst>
          </p:nvPr>
        </p:nvSpPr>
        <p:spPr>
          <a:xfrm>
            <a:off x="548640" y="32461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</p:spPr>
      </p:sp>
      <p:sp>
        <p:nvSpPr>
          <p:cNvPr id="25" name="Text 7"/>
          <p:cNvSpPr txBox="1"/>
          <p:nvPr>
            <p:custDataLst>
              <p:tags r:id="rId6"/>
            </p:custDataLst>
          </p:nvPr>
        </p:nvSpPr>
        <p:spPr>
          <a:xfrm>
            <a:off x="548640" y="32461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8"/>
          <p:cNvSpPr txBox="1"/>
          <p:nvPr>
            <p:custDataLst>
              <p:tags r:id="rId7"/>
            </p:custDataLst>
          </p:nvPr>
        </p:nvSpPr>
        <p:spPr>
          <a:xfrm>
            <a:off x="1325880" y="3200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Cloud-based AI tools</a:t>
            </a:r>
            <a:endParaRPr lang="en-US" sz="1600" dirty="0"/>
          </a:p>
        </p:txBody>
      </p:sp>
      <p:sp>
        <p:nvSpPr>
          <p:cNvPr id="27" name="Text 9"/>
          <p:cNvSpPr txBox="1"/>
          <p:nvPr>
            <p:custDataLst>
              <p:tags r:id="rId8"/>
            </p:custDataLst>
          </p:nvPr>
        </p:nvSpPr>
        <p:spPr>
          <a:xfrm>
            <a:off x="1325880" y="356616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 accuracy, but add latency, an internet dependency, and data-privacy exposure.</a:t>
            </a:r>
            <a:endParaRPr lang="en-US" sz="1300" dirty="0"/>
          </a:p>
        </p:txBody>
      </p:sp>
      <p:sp>
        <p:nvSpPr>
          <p:cNvPr id="29" name="Text 11"/>
          <p:cNvSpPr txBox="1"/>
          <p:nvPr>
            <p:custDataLst>
              <p:tags r:id="rId9"/>
            </p:custDataLst>
          </p:nvPr>
        </p:nvSpPr>
        <p:spPr>
          <a:xfrm>
            <a:off x="200152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 dirty="0">
              <a:solidFill>
                <a:schemeClr val="bg1"/>
              </a:solidFill>
              <a:highlight>
                <a:srgbClr val="000080"/>
              </a:highligh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Text 12"/>
          <p:cNvSpPr txBox="1"/>
          <p:nvPr>
            <p:custDataLst>
              <p:tags r:id="rId10"/>
            </p:custDataLst>
          </p:nvPr>
        </p:nvSpPr>
        <p:spPr>
          <a:xfrm>
            <a:off x="1325880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inspection hardware</a:t>
            </a:r>
            <a:endParaRPr lang="en-US" sz="1600" dirty="0"/>
          </a:p>
        </p:txBody>
      </p:sp>
      <p:sp>
        <p:nvSpPr>
          <p:cNvPr id="31" name="Text 13"/>
          <p:cNvSpPr txBox="1"/>
          <p:nvPr>
            <p:custDataLst>
              <p:tags r:id="rId11"/>
            </p:custDataLst>
          </p:nvPr>
        </p:nvSpPr>
        <p:spPr>
          <a:xfrm>
            <a:off x="1325880" y="4800600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and fast, but priced far out of reach for small food producers and workshops.</a:t>
            </a:r>
            <a:endParaRPr lang="en-US" sz="1300" dirty="0"/>
          </a:p>
        </p:txBody>
      </p:sp>
      <p:sp>
        <p:nvSpPr>
          <p:cNvPr id="32" name="Text 14"/>
          <p:cNvSpPr txBox="1"/>
          <p:nvPr/>
        </p:nvSpPr>
        <p:spPr>
          <a:xfrm>
            <a:off x="548640" y="5852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There is a need for a fast, private, self-contained inspection tool that runs entirely on the device performing the inspection.</a:t>
            </a:r>
            <a:endParaRPr lang="en-US" sz="1500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3" name="Text 15"/>
          <p:cNvSpPr txBox="1"/>
          <p:nvPr/>
        </p:nvSpPr>
        <p:spPr>
          <a:xfrm>
            <a:off x="11365992" y="63550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7"/>
          <p:cNvSpPr txBox="1"/>
          <p:nvPr>
            <p:custDataLst>
              <p:tags r:id="rId12"/>
            </p:custDataLst>
          </p:nvPr>
        </p:nvSpPr>
        <p:spPr>
          <a:xfrm>
            <a:off x="548640" y="44805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Shape 6"/>
          <p:cNvSpPr/>
          <p:nvPr>
            <p:custDataLst>
              <p:tags r:id="rId13"/>
            </p:custDataLst>
          </p:nvPr>
        </p:nvSpPr>
        <p:spPr>
          <a:xfrm>
            <a:off x="548640" y="4480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</p:spPr>
        <p:txBody>
          <a:bodyPr/>
          <a:p>
            <a:pPr marL="0" indent="0" algn="ctr">
              <a:buNone/>
            </a:pPr>
            <a:r>
              <a:rPr lang="en-IN" altLang="en-GB">
                <a:solidFill>
                  <a:schemeClr val="bg1"/>
                </a:solidFill>
              </a:rPr>
              <a:t>3</a:t>
            </a:r>
            <a:endParaRPr lang="en-IN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4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SmartQC: factory-grade inspection, without the factory-grade price tag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920240"/>
            <a:ext cx="51206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>
            <p:custDataLst>
              <p:tags r:id="rId2"/>
            </p:custDataLst>
          </p:nvPr>
        </p:nvSpPr>
        <p:spPr>
          <a:xfrm>
            <a:off x="868680" y="2148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IT'S FOR</a:t>
            </a:r>
            <a:endParaRPr lang="en-US" sz="110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 txBox="1"/>
          <p:nvPr>
            <p:custDataLst>
              <p:tags r:id="rId3"/>
            </p:custDataLst>
          </p:nvPr>
        </p:nvSpPr>
        <p:spPr>
          <a:xfrm>
            <a:off x="868680" y="2450592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bakeries, food producers, and workshops that need reliable visual QC but can't justify a dedicated inspection line.</a:t>
            </a:r>
            <a:endParaRPr lang="en-US" sz="1350" dirty="0"/>
          </a:p>
        </p:txBody>
      </p:sp>
      <p:sp>
        <p:nvSpPr>
          <p:cNvPr id="7" name="Text 5"/>
          <p:cNvSpPr txBox="1"/>
          <p:nvPr>
            <p:custDataLst>
              <p:tags r:id="rId4"/>
            </p:custDataLst>
          </p:nvPr>
        </p:nvSpPr>
        <p:spPr>
          <a:xfrm>
            <a:off x="868680" y="3474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10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>
            <p:custDataLst>
              <p:tags r:id="rId5"/>
            </p:custDataLst>
          </p:nvPr>
        </p:nvSpPr>
        <p:spPr>
          <a:xfrm>
            <a:off x="868680" y="3776472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Classifies product quality from a webcam or uploaded image, entirely on-device — no cloud calls, no internet dependency at inference time.</a:t>
            </a:r>
            <a:endParaRPr lang="en-US" sz="1350" dirty="0"/>
          </a:p>
        </p:txBody>
      </p:sp>
      <p:sp>
        <p:nvSpPr>
          <p:cNvPr id="9" name="Text 7"/>
          <p:cNvSpPr txBox="1"/>
          <p:nvPr>
            <p:custDataLst>
              <p:tags r:id="rId6"/>
            </p:custDataLst>
          </p:nvPr>
        </p:nvSpPr>
        <p:spPr>
          <a:xfrm>
            <a:off x="868680" y="4937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100" b="1" kern="0" spc="15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 txBox="1"/>
          <p:nvPr>
            <p:custDataLst>
              <p:tags r:id="rId7"/>
            </p:custDataLst>
          </p:nvPr>
        </p:nvSpPr>
        <p:spPr>
          <a:xfrm>
            <a:off x="868680" y="5239512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a Snapdragon laptop the business may already own — zero extra hardware cost.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21295C"/>
          </a:solidFill>
        </p:spPr>
      </p:sp>
      <p:sp>
        <p:nvSpPr>
          <p:cNvPr id="12" name="Text 10"/>
          <p:cNvSpPr txBox="1"/>
          <p:nvPr/>
        </p:nvSpPr>
        <p:spPr>
          <a:xfrm>
            <a:off x="6675120" y="2286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PROPOSITION</a:t>
            </a:r>
            <a:endParaRPr lang="en-US" sz="1200" b="1" kern="0" spc="1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675120" y="265176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“Factory-grade visual inspection, without the factory-grade price tag.”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675120" y="4343400"/>
            <a:ext cx="3840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457200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by extending an earlier ESP32-CAM + MobileNetV2 bread-quality system into a fully software-based Windows app for Snapdragon-powered laptops.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4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Webcam / Image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capture or upload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79192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679192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 / PIL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09744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09744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Hub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01184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Quantized ONNX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84264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029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40296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ONNX Runtime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QNN Execution Provider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814816" y="3154680"/>
            <a:ext cx="2560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70848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070848" y="2971800"/>
            <a:ext cx="1874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62288" y="3456432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+ confidence + latency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optimized model and ONNX Runtime + QNN Execution Provider path are what make this pipeline Snapdragon-NPU-ready.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features:  </a:t>
            </a: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webcam / upload inspection  •  batch folder inspection + CSV export  •  confidence threshold flagging  •  local SQLite history log  •  rolling defect-rate trend chart  •  fully offline at inference time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ON-DEVICE, WHY SNAPDRAGON</a:t>
            </a:r>
            <a:endParaRPr lang="en-US" sz="14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for where inspection actually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Cloud-based inspection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Needs constant internet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472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Per-image / API cost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142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Data leaves the device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8114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Latency varies with connection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0" y="196596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22402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SmartQC on Snapdragon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8803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Fully offline at inference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4472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Zero marginal cost per scan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401421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All data stays on-device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581144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NPU-optimized, low-latency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Snapdragon's on-device NPU + long battery life means SmartQC can run all day on a shop floor — unplugged, private, and instant.</a:t>
            </a:r>
            <a:endParaRPr lang="en-US" sz="1400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</a:t>
            </a:r>
            <a:endParaRPr lang="en-US" sz="14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MobileNetV2, fine-tuned to 99.2% validation accuracy</a:t>
            </a:r>
            <a:endParaRPr lang="en-US" sz="3200" dirty="0"/>
          </a:p>
        </p:txBody>
      </p:sp>
      <p:pic>
        <p:nvPicPr>
          <p:cNvPr id="4" name="Image 0" descr="assets/training_accurac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93105" y="1792605"/>
            <a:ext cx="5865495" cy="31565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93105" y="1791970"/>
            <a:ext cx="5866130" cy="3157220"/>
          </a:xfrm>
          <a:prstGeom prst="roundRect">
            <a:avLst>
              <a:gd name="adj" fmla="val 254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0312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99.2%</a:t>
            </a:r>
            <a:endParaRPr lang="en-US" sz="44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2834640" y="22402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validation accuracy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0896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649</a:t>
            </a:r>
            <a:endParaRPr lang="en-US" sz="44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834640" y="32461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labeled images (Fresh / Mold bread)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44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834640" y="425196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epochs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3949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on a Fresh Bread (Good) / Mold Bread (Defective) dataset using transfer learning from ImageNet-pretrained MobileNetV2 — the same architecture family used in the original bread-quality-indicator project this builds 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</a:t>
            </a:r>
            <a:endParaRPr lang="en-US" sz="14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Beyond accuracy: confusion matrix, precision/recall, ROC-AUC</a:t>
            </a:r>
            <a:endParaRPr lang="en-US" sz="3200" dirty="0"/>
          </a:p>
        </p:txBody>
      </p:sp>
      <p:sp>
        <p:nvSpPr>
          <p:cNvPr id="17" name="Shape 2"/>
          <p:cNvSpPr/>
          <p:nvPr/>
        </p:nvSpPr>
        <p:spPr>
          <a:xfrm>
            <a:off x="548640" y="2011680"/>
            <a:ext cx="5120640" cy="2880360"/>
          </a:xfrm>
          <a:prstGeom prst="roundRect">
            <a:avLst>
              <a:gd name="adj" fmla="val 254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8" name="Shape 3"/>
          <p:cNvSpPr/>
          <p:nvPr/>
        </p:nvSpPr>
        <p:spPr>
          <a:xfrm>
            <a:off x="6309360" y="2011680"/>
            <a:ext cx="5303520" cy="2880360"/>
          </a:xfrm>
          <a:prstGeom prst="roundRect">
            <a:avLst>
              <a:gd name="adj" fmla="val 254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4"/>
          <p:cNvSpPr txBox="1"/>
          <p:nvPr/>
        </p:nvSpPr>
        <p:spPr>
          <a:xfrm>
            <a:off x="2061845" y="50749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129</a:t>
            </a:r>
            <a:endParaRPr lang="en-US" sz="26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0" name="Text 5"/>
          <p:cNvSpPr txBox="1"/>
          <p:nvPr/>
        </p:nvSpPr>
        <p:spPr>
          <a:xfrm>
            <a:off x="182626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images</a:t>
            </a:r>
            <a:endParaRPr lang="en-US" sz="1150" dirty="0"/>
          </a:p>
        </p:txBody>
      </p:sp>
      <p:sp>
        <p:nvSpPr>
          <p:cNvPr id="21" name="Text 6"/>
          <p:cNvSpPr txBox="1"/>
          <p:nvPr/>
        </p:nvSpPr>
        <p:spPr>
          <a:xfrm>
            <a:off x="5279390" y="5074920"/>
            <a:ext cx="1029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      </a:t>
            </a:r>
            <a:r>
              <a:rPr lang="en-US" sz="2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2" name="Text 7"/>
          <p:cNvSpPr txBox="1"/>
          <p:nvPr/>
        </p:nvSpPr>
        <p:spPr>
          <a:xfrm>
            <a:off x="527939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misclassifications</a:t>
            </a:r>
            <a:endParaRPr lang="en-US" sz="1150" dirty="0"/>
          </a:p>
        </p:txBody>
      </p:sp>
      <p:sp>
        <p:nvSpPr>
          <p:cNvPr id="23" name="Text 8"/>
          <p:cNvSpPr txBox="1"/>
          <p:nvPr/>
        </p:nvSpPr>
        <p:spPr>
          <a:xfrm>
            <a:off x="8531225" y="50749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0.9997</a:t>
            </a:r>
            <a:endParaRPr lang="en-US" sz="26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4" name="Text 9"/>
          <p:cNvSpPr txBox="1"/>
          <p:nvPr/>
        </p:nvSpPr>
        <p:spPr>
          <a:xfrm>
            <a:off x="8732520" y="54533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1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12315"/>
            <a:ext cx="5107305" cy="290512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2315"/>
            <a:ext cx="5302885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QUALCOMM AI HUB</a:t>
            </a:r>
            <a:endParaRPr lang="en-US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Compiled and optimized for the Snapdragon X Elite</a:t>
            </a:r>
            <a:endParaRPr lang="en-US" sz="3200" dirty="0"/>
          </a:p>
        </p:txBody>
      </p:sp>
      <p:sp>
        <p:nvSpPr>
          <p:cNvPr id="11" name="Shape 2"/>
          <p:cNvSpPr/>
          <p:nvPr/>
        </p:nvSpPr>
        <p:spPr>
          <a:xfrm>
            <a:off x="548640" y="2381885"/>
            <a:ext cx="10698480" cy="2094230"/>
          </a:xfrm>
          <a:prstGeom prst="roundRect">
            <a:avLst>
              <a:gd name="adj" fmla="val 1810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2" name="Shape 3"/>
          <p:cNvSpPr/>
          <p:nvPr/>
        </p:nvSpPr>
        <p:spPr>
          <a:xfrm>
            <a:off x="548640" y="534035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</p:spPr>
      </p:sp>
      <p:sp>
        <p:nvSpPr>
          <p:cNvPr id="13" name="Text 4"/>
          <p:cNvSpPr txBox="1"/>
          <p:nvPr/>
        </p:nvSpPr>
        <p:spPr>
          <a:xfrm>
            <a:off x="548640" y="5340350"/>
            <a:ext cx="1065657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 job jpe782z15  •  Target: Snapdragon X Elite CRD  •  Status: Results Ready</a:t>
            </a:r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15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81885"/>
            <a:ext cx="10665460" cy="20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</a:t>
            </a:r>
            <a:endParaRPr lang="en-US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Correctly classifies both good and defective samples</a:t>
            </a:r>
            <a:endParaRPr lang="en-US" sz="3200" dirty="0"/>
          </a:p>
        </p:txBody>
      </p:sp>
      <p:sp>
        <p:nvSpPr>
          <p:cNvPr id="15" name="Shape 2"/>
          <p:cNvSpPr/>
          <p:nvPr/>
        </p:nvSpPr>
        <p:spPr>
          <a:xfrm>
            <a:off x="548640" y="1965960"/>
            <a:ext cx="5120640" cy="3520440"/>
          </a:xfrm>
          <a:prstGeom prst="roundRect">
            <a:avLst>
              <a:gd name="adj" fmla="val 2078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6" name="Shape 3"/>
          <p:cNvSpPr/>
          <p:nvPr/>
        </p:nvSpPr>
        <p:spPr>
          <a:xfrm>
            <a:off x="548640" y="56235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1FA774"/>
          </a:solidFill>
        </p:spPr>
      </p:sp>
      <p:sp>
        <p:nvSpPr>
          <p:cNvPr id="17" name="Text 4"/>
          <p:cNvSpPr txBox="1"/>
          <p:nvPr/>
        </p:nvSpPr>
        <p:spPr>
          <a:xfrm>
            <a:off x="548640" y="56235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— 100.0% confidence</a:t>
            </a:r>
            <a:endParaRPr lang="en-US" sz="1400" dirty="0"/>
          </a:p>
        </p:txBody>
      </p:sp>
      <p:sp>
        <p:nvSpPr>
          <p:cNvPr id="18" name="Shape 5"/>
          <p:cNvSpPr/>
          <p:nvPr/>
        </p:nvSpPr>
        <p:spPr>
          <a:xfrm>
            <a:off x="6126480" y="1965960"/>
            <a:ext cx="5120640" cy="3520440"/>
          </a:xfrm>
          <a:prstGeom prst="roundRect">
            <a:avLst>
              <a:gd name="adj" fmla="val 2078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9" name="Shape 6"/>
          <p:cNvSpPr/>
          <p:nvPr/>
        </p:nvSpPr>
        <p:spPr>
          <a:xfrm>
            <a:off x="6126480" y="56235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D64545"/>
          </a:solidFill>
        </p:spPr>
      </p:sp>
      <p:sp>
        <p:nvSpPr>
          <p:cNvPr id="20" name="Text 7"/>
          <p:cNvSpPr txBox="1"/>
          <p:nvPr/>
        </p:nvSpPr>
        <p:spPr>
          <a:xfrm>
            <a:off x="6126480" y="562356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DEFECTIVE — 9</a:t>
            </a:r>
            <a:r>
              <a:rPr lang="en-IN" alt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8.4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% confidence</a:t>
            </a:r>
            <a:endParaRPr lang="en-US" sz="1400" dirty="0"/>
          </a:p>
        </p:txBody>
      </p:sp>
      <p:pic>
        <p:nvPicPr>
          <p:cNvPr id="2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0715"/>
            <a:ext cx="5133975" cy="357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65960"/>
            <a:ext cx="5120005" cy="3519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VALIDATION</a:t>
            </a:r>
            <a:endParaRPr lang="en-US" sz="16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Batch-tested against 352 uncurated images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2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the curated 129-image validation set, SmartQC's batch mode was run against a larger, unsorted folder of 352 real-world mold-bread images — a messier, more realistic test than a clean benchmark.</a:t>
            </a:r>
            <a:endParaRPr lang="en-US" sz="135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182853" y="223520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>
            <p:custDataLst>
              <p:tags r:id="rId2"/>
            </p:custDataLst>
          </p:nvPr>
        </p:nvSpPr>
        <p:spPr>
          <a:xfrm>
            <a:off x="7182853" y="2360328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352</a:t>
            </a:r>
            <a:endParaRPr lang="en-US" sz="32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 txBox="1"/>
          <p:nvPr>
            <p:custDataLst>
              <p:tags r:id="rId3"/>
            </p:custDataLst>
          </p:nvPr>
        </p:nvSpPr>
        <p:spPr>
          <a:xfrm>
            <a:off x="7276699" y="282956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batch-processed</a:t>
            </a:r>
            <a:endParaRPr lang="en-US" sz="110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9059779" y="223520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>
            <p:custDataLst>
              <p:tags r:id="rId5"/>
            </p:custDataLst>
          </p:nvPr>
        </p:nvSpPr>
        <p:spPr>
          <a:xfrm>
            <a:off x="9059779" y="2360328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343</a:t>
            </a:r>
            <a:endParaRPr lang="en-US" sz="32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8"/>
          <p:cNvSpPr txBox="1"/>
          <p:nvPr>
            <p:custDataLst>
              <p:tags r:id="rId6"/>
            </p:custDataLst>
          </p:nvPr>
        </p:nvSpPr>
        <p:spPr>
          <a:xfrm>
            <a:off x="9153625" y="282956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Correctly flagged DEFECTIVE</a:t>
            </a:r>
            <a:endParaRPr lang="en-US" sz="11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7183220" y="390144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>
            <p:custDataLst>
              <p:tags r:id="rId8"/>
            </p:custDataLst>
          </p:nvPr>
        </p:nvSpPr>
        <p:spPr>
          <a:xfrm>
            <a:off x="7183855" y="4053873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32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3" name="Text 11"/>
          <p:cNvSpPr txBox="1"/>
          <p:nvPr>
            <p:custDataLst>
              <p:tags r:id="rId9"/>
            </p:custDataLst>
          </p:nvPr>
        </p:nvSpPr>
        <p:spPr>
          <a:xfrm>
            <a:off x="7277067" y="452374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Flagged UNCERTAIN (below threshold)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9060147" y="3901440"/>
            <a:ext cx="1720516" cy="11887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>
            <p:custDataLst>
              <p:tags r:id="rId11"/>
            </p:custDataLst>
          </p:nvPr>
        </p:nvSpPr>
        <p:spPr>
          <a:xfrm>
            <a:off x="9060147" y="4126263"/>
            <a:ext cx="1720516" cy="4379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2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6" name="Text 14"/>
          <p:cNvSpPr txBox="1"/>
          <p:nvPr>
            <p:custDataLst>
              <p:tags r:id="rId12"/>
            </p:custDataLst>
          </p:nvPr>
        </p:nvSpPr>
        <p:spPr>
          <a:xfrm>
            <a:off x="9153358" y="4523740"/>
            <a:ext cx="1532823" cy="5005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Misclassified (edge cases)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892165"/>
            <a:ext cx="10698480" cy="782955"/>
          </a:xfrm>
          <a:prstGeom prst="roundRect">
            <a:avLst>
              <a:gd name="adj" fmla="val 6667"/>
            </a:avLst>
          </a:prstGeom>
          <a:solidFill>
            <a:srgbClr val="21295C"/>
          </a:solidFill>
        </p:spPr>
      </p:sp>
      <p:sp>
        <p:nvSpPr>
          <p:cNvPr id="18" name="Text 16"/>
          <p:cNvSpPr txBox="1"/>
          <p:nvPr/>
        </p:nvSpPr>
        <p:spPr>
          <a:xfrm>
            <a:off x="685800" y="5608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97.4% correct on an uncurated real-world batch — and the confidence-threshold feature caught the ambiguous cases instead of silently guessing wrong.</a:t>
            </a:r>
            <a:endParaRPr lang="en-US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2076450"/>
            <a:ext cx="5998845" cy="3461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CLASSIFICATION</a:t>
            </a:r>
            <a:endParaRPr lang="en-US" sz="16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Explainability: showing WHY, not just what</a:t>
            </a:r>
            <a:endParaRPr lang="en-US" sz="3200" dirty="0"/>
          </a:p>
        </p:txBody>
      </p:sp>
      <p:sp>
        <p:nvSpPr>
          <p:cNvPr id="18" name="Shape 2"/>
          <p:cNvSpPr/>
          <p:nvPr/>
        </p:nvSpPr>
        <p:spPr>
          <a:xfrm>
            <a:off x="548640" y="1965960"/>
            <a:ext cx="5120640" cy="3566160"/>
          </a:xfrm>
          <a:prstGeom prst="roundRect">
            <a:avLst>
              <a:gd name="adj" fmla="val 2051"/>
            </a:avLst>
          </a:prstGeom>
          <a:ln w="12700">
            <a:solidFill>
              <a:srgbClr val="DCE3E8"/>
            </a:solidFill>
            <a:prstDash val="solid"/>
          </a:ln>
        </p:spPr>
      </p:sp>
      <p:sp>
        <p:nvSpPr>
          <p:cNvPr id="19" name="Shape 3"/>
          <p:cNvSpPr/>
          <p:nvPr>
            <p:custDataLst>
              <p:tags r:id="rId1"/>
            </p:custDataLst>
          </p:nvPr>
        </p:nvSpPr>
        <p:spPr>
          <a:xfrm>
            <a:off x="6309360" y="2103120"/>
            <a:ext cx="109728" cy="8229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</p:spPr>
      </p:sp>
      <p:sp>
        <p:nvSpPr>
          <p:cNvPr id="20" name="Text 4"/>
          <p:cNvSpPr txBox="1"/>
          <p:nvPr>
            <p:custDataLst>
              <p:tags r:id="rId2"/>
            </p:custDataLst>
          </p:nvPr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Grad-CAM heatmap</a:t>
            </a:r>
            <a:endParaRPr lang="en-US" sz="1500" dirty="0"/>
          </a:p>
        </p:txBody>
      </p:sp>
      <p:sp>
        <p:nvSpPr>
          <p:cNvPr id="21" name="Text 5"/>
          <p:cNvSpPr txBox="1"/>
          <p:nvPr>
            <p:custDataLst>
              <p:tags r:id="rId3"/>
            </p:custDataLst>
          </p:nvPr>
        </p:nvSpPr>
        <p:spPr>
          <a:xfrm>
            <a:off x="6583680" y="2423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Highlights exactly which pixels drove the model's decision — warmer colors (red/yellow) show the highest-influence regions.</a:t>
            </a:r>
            <a:endParaRPr lang="en-US" sz="1250" dirty="0"/>
          </a:p>
        </p:txBody>
      </p:sp>
      <p:sp>
        <p:nvSpPr>
          <p:cNvPr id="22" name="Shape 6"/>
          <p:cNvSpPr/>
          <p:nvPr>
            <p:custDataLst>
              <p:tags r:id="rId4"/>
            </p:custDataLst>
          </p:nvPr>
        </p:nvSpPr>
        <p:spPr>
          <a:xfrm>
            <a:off x="6309360" y="3337560"/>
            <a:ext cx="109728" cy="8229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</p:spPr>
      </p:sp>
      <p:sp>
        <p:nvSpPr>
          <p:cNvPr id="23" name="Text 7"/>
          <p:cNvSpPr txBox="1"/>
          <p:nvPr>
            <p:custDataLst>
              <p:tags r:id="rId5"/>
            </p:custDataLst>
          </p:nvPr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operator trust</a:t>
            </a:r>
            <a:endParaRPr lang="en-US" sz="1500" dirty="0"/>
          </a:p>
        </p:txBody>
      </p:sp>
      <p:sp>
        <p:nvSpPr>
          <p:cNvPr id="24" name="Text 8"/>
          <p:cNvSpPr txBox="1"/>
          <p:nvPr>
            <p:custDataLst>
              <p:tags r:id="rId6"/>
            </p:custDataLst>
          </p:nvPr>
        </p:nvSpPr>
        <p:spPr>
          <a:xfrm>
            <a:off x="6583680" y="365760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QC operator can visually verify the model is looking at the actual defect, not an unrelated artifact.</a:t>
            </a:r>
            <a:endParaRPr lang="en-US" sz="1250" dirty="0"/>
          </a:p>
        </p:txBody>
      </p:sp>
      <p:sp>
        <p:nvSpPr>
          <p:cNvPr id="25" name="Shape 9"/>
          <p:cNvSpPr/>
          <p:nvPr>
            <p:custDataLst>
              <p:tags r:id="rId7"/>
            </p:custDataLst>
          </p:nvPr>
        </p:nvSpPr>
        <p:spPr>
          <a:xfrm>
            <a:off x="6309360" y="4572000"/>
            <a:ext cx="109728" cy="822960"/>
          </a:xfrm>
          <a:prstGeom prst="roundRect">
            <a:avLst>
              <a:gd name="adj" fmla="val 25000"/>
            </a:avLst>
          </a:prstGeom>
          <a:solidFill>
            <a:srgbClr val="065A82"/>
          </a:solidFill>
        </p:spPr>
      </p:sp>
      <p:sp>
        <p:nvSpPr>
          <p:cNvPr id="26" name="Text 10"/>
          <p:cNvSpPr txBox="1"/>
          <p:nvPr>
            <p:custDataLst>
              <p:tags r:id="rId8"/>
            </p:custDataLst>
          </p:nvPr>
        </p:nvSpPr>
        <p:spPr>
          <a:xfrm>
            <a:off x="6583680" y="45262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the trained model directly</a:t>
            </a:r>
            <a:endParaRPr lang="en-US" sz="1500" dirty="0"/>
          </a:p>
        </p:txBody>
      </p:sp>
      <p:sp>
        <p:nvSpPr>
          <p:cNvPr id="27" name="Text 11"/>
          <p:cNvSpPr txBox="1"/>
          <p:nvPr>
            <p:custDataLst>
              <p:tags r:id="rId9"/>
            </p:custDataLst>
          </p:nvPr>
        </p:nvSpPr>
        <p:spPr>
          <a:xfrm>
            <a:off x="6583680" y="48920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Computed via PyTorch alongside the ONNX/AI-Hub inference path — an explainability layer, not a replacement for it.</a:t>
            </a:r>
            <a:endParaRPr lang="en-US" sz="12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1965960"/>
            <a:ext cx="5142230" cy="35064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1600" b="1" kern="0" spc="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Roadmap</a:t>
            </a:r>
            <a:endParaRPr lang="en-US" sz="4400" b="1" dirty="0">
              <a:solidFill>
                <a:srgbClr val="1B1F2A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028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QNN NPU deployment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0604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 up the QNN Execution Provider on physical Snapdragon hardware for measured on-device NPU latency.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11" name="Text 9"/>
          <p:cNvSpPr txBox="1"/>
          <p:nvPr/>
        </p:nvSpPr>
        <p:spPr>
          <a:xfrm>
            <a:off x="640080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24028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Multi-product support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60604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beyond bread to additional inspection domains (produce, packaging, components).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7764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Multi-class defects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4340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beyond good/bad to specific defect types — mold, staleness, physical damage.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</p:spPr>
      </p:sp>
      <p:sp>
        <p:nvSpPr>
          <p:cNvPr id="21" name="Text 19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97764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Fleet / multi-station rollout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34340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dashboard aggregating results across multiple inspection stations.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/>
          <p:cNvSpPr txBox="1"/>
          <p:nvPr/>
        </p:nvSpPr>
        <p:spPr>
          <a:xfrm>
            <a:off x="548640" y="1842135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SmartQC</a:t>
            </a:r>
            <a:endParaRPr lang="en-US" sz="6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548640" y="2756535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On-device inspection, privately and instantly, on Snapdragon.</a:t>
            </a:r>
            <a:endParaRPr lang="en-US" sz="1700" dirty="0"/>
          </a:p>
        </p:txBody>
      </p:sp>
      <p:sp>
        <p:nvSpPr>
          <p:cNvPr id="10" name="Text Box 9"/>
          <p:cNvSpPr txBox="1"/>
          <p:nvPr/>
        </p:nvSpPr>
        <p:spPr>
          <a:xfrm>
            <a:off x="548640" y="1122680"/>
            <a:ext cx="95719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2800" b="1" kern="0" spc="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SNAPDRAGON® AI LAB BUILD &amp; PRESENT CHALLENGE</a:t>
            </a:r>
            <a:endParaRPr lang="en-US" altLang="en-US" sz="2800" b="1" kern="0" spc="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548640" y="3429000"/>
            <a:ext cx="10574655" cy="1827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Samay Thakur
</a:t>
            </a:r>
            <a:r>
              <a:rPr 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 &amp; Instrumentation Engineering, M.S. Ramaiah Institute of Technology, Bengaluru
</a:t>
            </a:r>
            <a:r>
              <a:rPr lang="en-IN" alt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  <a:hlinkClick r:id="rId1" action="ppaction://hlinkfile"/>
              </a:rPr>
              <a:t>GitHub</a:t>
            </a:r>
            <a:r>
              <a:rPr 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  <a:hlinkClick r:id="rId1" action="ppaction://hlinkfile"/>
              </a:rPr>
              <a:t> </a:t>
            </a:r>
            <a:r>
              <a:rPr 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  </a:t>
            </a:r>
            <a:r>
              <a:rPr lang="en-IN" altLang="en-US" sz="2000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  <a:hlinkClick r:id="rId2" action="ppaction://hlinkfile"/>
              </a:rPr>
              <a:t>Linkedin</a:t>
            </a:r>
            <a:endParaRPr lang="en-IN" altLang="en-US" sz="2000" dirty="0">
              <a:solidFill>
                <a:srgbClr val="AFC4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IN" altLang="en-US" sz="2000" dirty="0">
              <a:solidFill>
                <a:srgbClr val="AFC4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542790" y="5170170"/>
            <a:ext cx="3136265" cy="1170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30000"/>
              </a:lnSpc>
              <a:buNone/>
            </a:pPr>
            <a:r>
              <a:rPr lang="en-IN" altLang="en-US" sz="5400" b="1" dirty="0">
                <a:solidFill>
                  <a:srgbClr val="AFC4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Thank You</a:t>
            </a:r>
            <a:endParaRPr lang="en-IN" altLang="en-US" sz="5400" b="1" dirty="0">
              <a:solidFill>
                <a:srgbClr val="AFC4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2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3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4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5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6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7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8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9.xml><?xml version="1.0" encoding="utf-8"?>
<p:tagLst xmlns:p="http://schemas.openxmlformats.org/presentationml/2006/main">
  <p:tag name="KSO_WM_DIAGRAM_VIRTUALLY_FRAME" val="{&quot;height&quot;:270,&quot;left&quot;:43.2,&quot;top&quot;:154.8,&quot;width&quot;:745.2}"/>
</p:tagLst>
</file>

<file path=ppt/tags/tag10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1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2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3.xml><?xml version="1.0" encoding="utf-8"?>
<p:tagLst xmlns:p="http://schemas.openxmlformats.org/presentationml/2006/main">
  <p:tag name="KSO_WM_DIAGRAM_VIRTUALLY_FRAME" val="{&quot;height&quot;:270,&quot;left&quot;:-79.55,&quot;top&quot;:154.8,&quot;width&quot;:867.95}"/>
</p:tagLst>
</file>

<file path=ppt/tags/tag14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5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6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7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8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19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20.xml><?xml version="1.0" encoding="utf-8"?>
<p:tagLst xmlns:p="http://schemas.openxmlformats.org/presentationml/2006/main">
  <p:tag name="KSO_WM_DIAGRAM_VIRTUALLY_FRAME" val="{&quot;height&quot;:334.8,&quot;left&quot;:43.2,&quot;top&quot;:151.2,&quot;width&quot;:403.2}"/>
</p:tagLst>
</file>

<file path=ppt/tags/tag21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2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3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4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5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6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7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8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29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0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1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2.xml><?xml version="1.0" encoding="utf-8"?>
<p:tagLst xmlns:p="http://schemas.openxmlformats.org/presentationml/2006/main">
  <p:tag name="KSO_WM_DIAGRAM_VIRTUALLY_FRAME" val="{&quot;height&quot;:224.8,&quot;left&quot;:432,&quot;top&quot;:176,&quot;width&quot;:846}"/>
</p:tagLst>
</file>

<file path=ppt/tags/tag33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4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5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6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7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8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39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40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ags/tag41.xml><?xml version="1.0" encoding="utf-8"?>
<p:tagLst xmlns:p="http://schemas.openxmlformats.org/presentationml/2006/main">
  <p:tag name="KSO_WM_DIAGRAM_VIRTUALLY_FRAME" val="{&quot;height&quot;:266.4,&quot;left&quot;:496.8,&quot;top&quot;:162,&quot;width&quot;:40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4929</Words>
  <Application>WPS Presentation</Application>
  <PresentationFormat>On-screen Show (16:9)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Samay Thakur</cp:lastModifiedBy>
  <cp:revision>3</cp:revision>
  <dcterms:created xsi:type="dcterms:W3CDTF">2026-09-20T15:25:00Z</dcterms:created>
  <dcterms:modified xsi:type="dcterms:W3CDTF">2026-09-20T15:51:50Z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9A7C2F0498644AC7A7AF5A5884962D3B_12</vt:lpwstr>
  </property>
  <property fmtid="{D5CDD505-2E9C-101B-9397-08002B2CF9AE}" pid="3" name="KSOProductBuildVer">
    <vt:lpwstr>2057-12.2.0.23206</vt:lpwstr>
  </property>
</Properties>
</file>